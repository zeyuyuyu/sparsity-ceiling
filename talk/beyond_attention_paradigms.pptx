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 open calm, set the frame]</a:t>
            </a:r>
          </a:p>
          <a:p>
            <a:r>
              <a:t>Thanks for the time. I want to walk through a research direction that came out of a small empirical result of mine -- a short paper called "The Sparsity Ceiling."</a:t>
            </a:r>
          </a:p>
          <a:p>
            <a:r>
              <a:t>One-line version: if spiking, brain-inspired hardware cannot ride the Transformer paradigm -- and I'll show you it structurally can't -- then the real question is what paradigm of intelligence it CAN ride. Today I map six candidates and say where I'd place the bet.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 · this is the thesis slide -- slow down]</a:t>
            </a:r>
          </a:p>
          <a:p>
            <a:r>
              <a:t>Start with what I think intelligence actually is. My working definition: a predictive generative model of the world, held in ongoing dynamics, that spends compute only on surprise and acts to test its own predictions. The key word is LOOP -- model interacting with world -- not a function that maps context to a token.</a:t>
            </a:r>
          </a:p>
          <a:p>
            <a:r>
              <a:t>Transformers reach intelligence the opposite way: stateless, dense retrieval over the entire context, brute-forced with scale.</a:t>
            </a:r>
          </a:p>
          <a:p>
            <a:r>
              <a:t>On the right is my empirical hook. In the sparsity-ceiling work, a recurrent spiking net hits a hard firing floor around 50% -- you cannot make it sparse. Attention CAN be made sparse, but only by storing the full key-value cache -- an O(context) memory wall. Either way, the Transformer route is mismatched to neuromorphic hardware. That mismatch is what motivates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 walk the last row hard]</a:t>
            </a:r>
          </a:p>
          <a:p>
            <a:r>
              <a:t>Side by side, the two paradigms are almost point-for-point opposites. Transformer: stateless, external memory that grows with context, dense all-pairs compute, offline global backprop, intelligence from scale. Brain: persistent state, memory compressed into the state and synapses, compute spent only on prediction error, local online learning, intelligence from prediction and action.</a:t>
            </a:r>
          </a:p>
          <a:p>
            <a:r>
              <a:t>The bottom row is the punchline for us: the Transformer column is exactly what neuromorphic hardware is bad at -- dense MACs and a memory wall -- and the brain column is exactly what it is good at -- event-driven, analog, local. So the paradigm choice and the hardware choice are the same choice.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anticipate the obvious objection]</a:t>
            </a:r>
          </a:p>
          <a:p>
            <a:r>
              <a:t>Here's the fair objection: my own paper proves recurrent spiking nets have a firing floor. So how does the brain -- which is recurrent and spiking -- avoid it?</a:t>
            </a:r>
          </a:p>
          <a:p>
            <a:r>
              <a:t>Because the brain violates the assumption behind my bound. My bound assumes information travels ONLY in spikes. The brain doesn't. It holds memory in sub-threshold membrane potential and short-term synaptic state -- activity-silent -- and spikes only to signal errors. That escapes the firing floor AND the memory wall at once. Add an enormous neuron count, which pushes the required firing rate toward zero, and local multi-timescale learning.</a:t>
            </a:r>
          </a:p>
          <a:p>
            <a:r>
              <a:t>The takeaway is the line at the bottom: the brain is an existence proof -- general intelligence at 20 watts, about a thousand times more efficient than GPUs -- using prediction and sparsity, not attention.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this is the survey -- keep it brisk, one breath per row]</a:t>
            </a:r>
          </a:p>
          <a:p>
            <a:r>
              <a:t>So if not attention, what? Six non-attention paradigms, each a real, active line of work.</a:t>
            </a:r>
          </a:p>
          <a:p>
            <a:r>
              <a:t>Predictive coding -- hierarchical error propagation, local learning that provably approximates backprop.</a:t>
            </a:r>
          </a:p>
          <a:p>
            <a:r>
              <a:t>Equilibrium propagation -- energy-based, local weight updates, analog-native, with hardware demos claiming four orders of magnitude less training energy.</a:t>
            </a:r>
          </a:p>
          <a:p>
            <a:r>
              <a:t>Analog and spiking state-space models -- linear recurrence, no KV cache; keep the state in analog dynamics and you sidestep the firing floor.</a:t>
            </a:r>
          </a:p>
          <a:p>
            <a:r>
              <a:t>World models and JEPA -- predict in latent space, plan by simulation.</a:t>
            </a:r>
          </a:p>
          <a:p>
            <a:r>
              <a:t>Modern Hopfield / associative memory -- and this one is delightful: a Hopfield read is mathematically identical to attention, so the brain's "attention" is attractor dynamics, not QK-transpose.</a:t>
            </a:r>
          </a:p>
          <a:p>
            <a:r>
              <a:t>Active inference -- minimize expected surprise in a perception-action loop.</a:t>
            </a:r>
          </a:p>
          <a:p>
            <a:r>
              <a:t>The double checkmarks are where neuromorphic physics is an actual advantage, not just an algorithmic fit.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commit -- say it like a conviction]</a:t>
            </a:r>
          </a:p>
          <a:p>
            <a:r>
              <a:t>If I have to place the bet, it's this: a predictive world-model held in analog recurrent dynamics, learned locally and online -- predictive coding or equilibrium propagation -- acting in a closed loop, where spikes carry only surprise.</a:t>
            </a:r>
          </a:p>
          <a:p>
            <a:r>
              <a:t>I want to stress this is not settling for less. It's choosing the paradigm where the hardware's physics is a feature, not a bug. Analog state escapes both the memory wall and the firing floor. Error-only propagation IS event-driven -- native to spiking silicon. Local plasticity means learning on-chip, no global backprop. And recurrence plus search gives you test-time reasoning without a giant single forward pass.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 say the hard part plainly -- this earns credibility]</a:t>
            </a:r>
          </a:p>
          <a:p>
            <a:r>
              <a:t>Let me be honest about where this stands. None of these paradigms has beaten Transformers yet. Predictive coding, EqProp, SSMs, Hopfield, JEPA, active inference -- all promising, all more brain-like, none has produced GPT-class general capability. This is a research bet, not a finished alternative, and I'll state it as such.</a:t>
            </a:r>
          </a:p>
          <a:p>
            <a:r>
              <a:t>But here's why it's still the right bet: the brain runs general intelligence on 20 watts using exactly this paradigm. So we know the paradigm CAN get there -- we just haven't reproduced it. That gap is the open frontier, and it is the reason to work on it, not the reason to avoid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concrete -- this is what you'd actually do in the lab]</a:t>
            </a:r>
          </a:p>
          <a:p>
            <a:r>
              <a:t>Concretely, four things I'd work on.</a:t>
            </a:r>
          </a:p>
          <a:p>
            <a:r>
              <a:t>One: build a state-space model whose recurrent state lives in analog sub-threshold dynamics rather than spikes, and test directly whether it breaks my bound's assumption and sparsifies the way attention did.</a:t>
            </a:r>
          </a:p>
          <a:p>
            <a:r>
              <a:t>Two: implement predictive coding on neuromorphic silicon with local equilibrium-propagation learning, and measure real energy on Loihi 2 or SpiNNaker2 -- turning my 45-nanometer proxy into an actual measurement.</a:t>
            </a:r>
          </a:p>
          <a:p>
            <a:r>
              <a:t>Three: formalize the recurrence-versus-attention, firing-floor-versus-memory-wall trade-off as a conservation law, and find where analog-state models sit on that frontier.</a:t>
            </a:r>
          </a:p>
          <a:p>
            <a:r>
              <a:t>Four: a closed-loop predictive world-model for a low-power embodied agent, where neuromorphic's real-time, event-driven physics is decisive.</a:t>
            </a:r>
          </a:p>
          <a:p>
            <a:r>
              <a:t>Any of these is a first project; the first two I could start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[~25s · land it, then open for questions]</a:t>
            </a:r>
          </a:p>
          <a:p>
            <a:r>
              <a:t>To close: intelligence is a loop, not a lookup. If neuromorphic hardware can't ride attention, it shouldn't try -- its physics aligns with the predictive, sparse, local, embodied paradigm that the brain already proves works at 20 watts. That's the direction I want to pursue.</a:t>
            </a:r>
          </a:p>
          <a:p>
            <a:r>
              <a:t>Happy to go deeper on any of the six paradigms, the bound, or the specific experiments.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RESEARCH DIRECTION · FROM AN EMPIRICAL RESULT TO A BET</a:t>
            </a:r>
          </a:p>
        </p:txBody>
      </p:sp>
      <p:sp>
        <p:nvSpPr>
          <p:cNvPr id="4" name="TextBox 3"/>
          <p:cNvSpPr txBox="1"/>
          <p:nvPr/>
        </p:nvSpPr>
        <p:spPr>
          <a:xfrm>
            <a:off x="786384" y="1783080"/>
            <a:ext cx="10424160" cy="1828800"/>
          </a:xfrm>
          <a:prstGeom prst="rect">
            <a:avLst/>
          </a:prstGeom>
          <a:noFill/>
        </p:spPr>
        <p:txBody>
          <a:bodyPr wrap="square" anchor="t" lIns="0" rIns="0" tIns="0" bIns="0">
            <a:spAutoFit/>
          </a:bodyPr>
          <a:lstStyle/>
          <a:p>
            <a:pPr algn="l">
              <a:lnSpc>
                <a:spcPct val="104000"/>
              </a:lnSpc>
            </a:pPr>
            <a:r>
              <a:rPr sz="4000" b="1">
                <a:solidFill>
                  <a:srgbClr val="E7ECF2"/>
                </a:solidFill>
                <a:latin typeface="Arial"/>
              </a:rPr>
              <a:t>Beyond Attention</a:t>
            </a:r>
            <a:r>
              <a:rPr sz="4000" b="1">
                <a:solidFill>
                  <a:srgbClr val="93A0AE"/>
                </a:solidFill>
                <a:latin typeface="Arial"/>
              </a:rPr>
              <a:t>:</a:t>
            </a:r>
            <a:r>
              <a:rPr sz="4000" b="1">
                <a:solidFill>
                  <a:srgbClr val="E7ECF2"/>
                </a:solidFill>
                <a:latin typeface="Arial"/>
              </a:rPr>
              <a:t>
what paradigm of intelligence can</a:t>
            </a:r>
            <a:r>
              <a:rPr sz="4000" b="1">
                <a:solidFill>
                  <a:srgbClr val="25C6D2"/>
                </a:solidFill>
                <a:latin typeface="Arial"/>
              </a:rPr>
              <a:t>
neuromorphic hardware actually ride?</a:t>
            </a:r>
          </a:p>
        </p:txBody>
      </p:sp>
      <p:sp>
        <p:nvSpPr>
          <p:cNvPr id="5" name="TextBox 4"/>
          <p:cNvSpPr txBox="1"/>
          <p:nvPr/>
        </p:nvSpPr>
        <p:spPr>
          <a:xfrm>
            <a:off x="822960" y="4160520"/>
            <a:ext cx="9875520" cy="914400"/>
          </a:xfrm>
          <a:prstGeom prst="rect">
            <a:avLst/>
          </a:prstGeom>
          <a:noFill/>
        </p:spPr>
        <p:txBody>
          <a:bodyPr wrap="square" anchor="t" lIns="0" rIns="0" tIns="0" bIns="0">
            <a:spAutoFit/>
          </a:bodyPr>
          <a:lstStyle/>
          <a:p>
            <a:pPr algn="l">
              <a:lnSpc>
                <a:spcPct val="125000"/>
              </a:lnSpc>
            </a:pPr>
            <a:r>
              <a:rPr sz="1600" b="0">
                <a:solidFill>
                  <a:srgbClr val="93A0AE"/>
                </a:solidFill>
                <a:latin typeface="Arial"/>
              </a:rPr>
              <a:t>If spiking hardware cannot ride the Transformer paradigm, what CAN it ride? </a:t>
            </a:r>
            <a:r>
              <a:rPr sz="1600" b="1">
                <a:solidFill>
                  <a:srgbClr val="E7ECF2"/>
                </a:solidFill>
                <a:latin typeface="Arial"/>
              </a:rPr>
              <a:t>A map of six non-attention paradigms, and where I'd place the bet.</a:t>
            </a:r>
          </a:p>
        </p:txBody>
      </p:sp>
      <p:sp>
        <p:nvSpPr>
          <p:cNvPr id="6" name="TextBox 5"/>
          <p:cNvSpPr txBox="1"/>
          <p:nvPr/>
        </p:nvSpPr>
        <p:spPr>
          <a:xfrm>
            <a:off x="822960" y="5486400"/>
            <a:ext cx="10058400" cy="274320"/>
          </a:xfrm>
          <a:prstGeom prst="rect">
            <a:avLst/>
          </a:prstGeom>
          <a:noFill/>
        </p:spPr>
        <p:txBody>
          <a:bodyPr wrap="square" anchor="t" lIns="0" rIns="0" tIns="0" bIns="0">
            <a:spAutoFit/>
          </a:bodyPr>
          <a:lstStyle/>
          <a:p>
            <a:pPr algn="l">
              <a:lnSpc>
                <a:spcPct val="105000"/>
              </a:lnSpc>
            </a:pPr>
            <a:r>
              <a:rPr sz="1200" b="0">
                <a:solidFill>
                  <a:srgbClr val="667280"/>
                </a:solidFill>
                <a:latin typeface="Consolas"/>
              </a:rPr>
              <a:t>Zeyu Wang   ·   builds on “The Sparsity Ceiling” (arXiv, cs.NE)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01 · THE QUESTION</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02</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500" b="1">
                <a:solidFill>
                  <a:srgbClr val="E7ECF2"/>
                </a:solidFill>
                <a:latin typeface="Arial"/>
              </a:rPr>
              <a:t>What is the “point” of intelligence — and is attention it?</a:t>
            </a:r>
          </a:p>
        </p:txBody>
      </p:sp>
      <p:sp>
        <p:nvSpPr>
          <p:cNvPr id="6" name="TextBox 5"/>
          <p:cNvSpPr txBox="1"/>
          <p:nvPr/>
        </p:nvSpPr>
        <p:spPr>
          <a:xfrm>
            <a:off x="548640" y="1600200"/>
            <a:ext cx="6583680" cy="3291840"/>
          </a:xfrm>
          <a:prstGeom prst="rect">
            <a:avLst/>
          </a:prstGeom>
          <a:noFill/>
        </p:spPr>
        <p:txBody>
          <a:bodyPr wrap="square" anchor="t" lIns="0" rIns="0" tIns="0" bIns="0">
            <a:spAutoFit/>
          </a:bodyPr>
          <a:lstStyle/>
          <a:p>
            <a:pPr algn="l">
              <a:lnSpc>
                <a:spcPct val="130000"/>
              </a:lnSpc>
            </a:pPr>
            <a:r>
              <a:rPr sz="1550" b="0">
                <a:solidFill>
                  <a:srgbClr val="93A0AE"/>
                </a:solidFill>
                <a:latin typeface="Arial"/>
              </a:rPr>
              <a:t>A working answer: intelligence is </a:t>
            </a:r>
            <a:r>
              <a:rPr sz="1550" b="1">
                <a:solidFill>
                  <a:srgbClr val="E7ECF2"/>
                </a:solidFill>
                <a:latin typeface="Arial"/>
              </a:rPr>
              <a:t>a predictive generative model of the world, maintained in persistent dynamics, spending compute only on surprise, and acting to test its predictions.</a:t>
            </a:r>
            <a:r>
              <a:rPr sz="1550" b="0">
                <a:solidFill>
                  <a:srgbClr val="93A0AE"/>
                </a:solidFill>
                <a:latin typeface="Arial"/>
              </a:rPr>
              <a:t>
It is a </a:t>
            </a:r>
            <a:r>
              <a:rPr sz="1550" b="1">
                <a:solidFill>
                  <a:srgbClr val="25C6D2"/>
                </a:solidFill>
                <a:latin typeface="Arial"/>
              </a:rPr>
              <a:t>loop</a:t>
            </a:r>
            <a:r>
              <a:rPr sz="1550" b="0">
                <a:solidFill>
                  <a:srgbClr val="93A0AE"/>
                </a:solidFill>
                <a:latin typeface="Arial"/>
              </a:rPr>
              <a:t> (model ⇄ world), not a </a:t>
            </a:r>
            <a:r>
              <a:rPr sz="1550" b="1">
                <a:solidFill>
                  <a:srgbClr val="E0A05A"/>
                </a:solidFill>
                <a:latin typeface="Arial"/>
              </a:rPr>
              <a:t>function</a:t>
            </a:r>
            <a:r>
              <a:rPr sz="1550" b="0">
                <a:solidFill>
                  <a:srgbClr val="93A0AE"/>
                </a:solidFill>
                <a:latin typeface="Arial"/>
              </a:rPr>
              <a:t> (context → token).
Transformers reach intelligence the opposite way: </a:t>
            </a:r>
            <a:r>
              <a:rPr sz="1550" b="0">
                <a:solidFill>
                  <a:srgbClr val="E7ECF2"/>
                </a:solidFill>
                <a:latin typeface="Arial"/>
              </a:rPr>
              <a:t>stateless, dense retrieval over the whole context, at scale.</a:t>
            </a:r>
          </a:p>
        </p:txBody>
      </p:sp>
      <p:sp>
        <p:nvSpPr>
          <p:cNvPr id="7" name="Rounded Rectangle 6"/>
          <p:cNvSpPr/>
          <p:nvPr/>
        </p:nvSpPr>
        <p:spPr>
          <a:xfrm>
            <a:off x="7452360" y="1600200"/>
            <a:ext cx="4160520" cy="356616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54864" cy="3566160"/>
          </a:xfrm>
          <a:prstGeom prst="rect">
            <a:avLst/>
          </a:prstGeom>
          <a:solidFill>
            <a:srgbClr val="F06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74519"/>
            <a:ext cx="3611880" cy="274320"/>
          </a:xfrm>
          <a:prstGeom prst="rect">
            <a:avLst/>
          </a:prstGeom>
          <a:noFill/>
        </p:spPr>
        <p:txBody>
          <a:bodyPr wrap="square" anchor="t" lIns="0" rIns="0" tIns="0" bIns="0">
            <a:spAutoFit/>
          </a:bodyPr>
          <a:lstStyle/>
          <a:p>
            <a:pPr algn="l">
              <a:lnSpc>
                <a:spcPct val="105000"/>
              </a:lnSpc>
            </a:pPr>
            <a:r>
              <a:rPr sz="1100" b="1" spc="80">
                <a:solidFill>
                  <a:srgbClr val="F06A5F"/>
                </a:solidFill>
                <a:latin typeface="Consolas"/>
              </a:rPr>
              <a:t>THE EMPIRICAL HOOK</a:t>
            </a:r>
          </a:p>
        </p:txBody>
      </p:sp>
      <p:sp>
        <p:nvSpPr>
          <p:cNvPr id="10" name="TextBox 9"/>
          <p:cNvSpPr txBox="1"/>
          <p:nvPr/>
        </p:nvSpPr>
        <p:spPr>
          <a:xfrm>
            <a:off x="7772400" y="2286000"/>
            <a:ext cx="3611880" cy="457200"/>
          </a:xfrm>
          <a:prstGeom prst="rect">
            <a:avLst/>
          </a:prstGeom>
          <a:noFill/>
        </p:spPr>
        <p:txBody>
          <a:bodyPr wrap="square" anchor="t" lIns="0" rIns="0" tIns="0" bIns="0">
            <a:spAutoFit/>
          </a:bodyPr>
          <a:lstStyle/>
          <a:p>
            <a:pPr algn="l">
              <a:lnSpc>
                <a:spcPct val="105000"/>
              </a:lnSpc>
            </a:pPr>
            <a:r>
              <a:rPr sz="1350" b="1">
                <a:solidFill>
                  <a:srgbClr val="E7ECF2"/>
                </a:solidFill>
                <a:latin typeface="Arial"/>
              </a:rPr>
              <a:t>Our result — the sparsity ceiling:</a:t>
            </a:r>
          </a:p>
        </p:txBody>
      </p:sp>
      <p:sp>
        <p:nvSpPr>
          <p:cNvPr id="11" name="TextBox 10"/>
          <p:cNvSpPr txBox="1"/>
          <p:nvPr/>
        </p:nvSpPr>
        <p:spPr>
          <a:xfrm>
            <a:off x="7772400" y="283464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Recurrence</a:t>
            </a:r>
          </a:p>
        </p:txBody>
      </p:sp>
      <p:sp>
        <p:nvSpPr>
          <p:cNvPr id="12" name="TextBox 11"/>
          <p:cNvSpPr txBox="1"/>
          <p:nvPr/>
        </p:nvSpPr>
        <p:spPr>
          <a:xfrm>
            <a:off x="7772400" y="309067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hits a firing floor (~50%)</a:t>
            </a:r>
          </a:p>
        </p:txBody>
      </p:sp>
      <p:sp>
        <p:nvSpPr>
          <p:cNvPr id="13" name="TextBox 12"/>
          <p:cNvSpPr txBox="1"/>
          <p:nvPr/>
        </p:nvSpPr>
        <p:spPr>
          <a:xfrm>
            <a:off x="7772400" y="361188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Attention</a:t>
            </a:r>
          </a:p>
        </p:txBody>
      </p:sp>
      <p:sp>
        <p:nvSpPr>
          <p:cNvPr id="14" name="TextBox 13"/>
          <p:cNvSpPr txBox="1"/>
          <p:nvPr/>
        </p:nvSpPr>
        <p:spPr>
          <a:xfrm>
            <a:off x="7772400" y="386791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sparsifies, but O(context) KV = memory wall</a:t>
            </a:r>
          </a:p>
        </p:txBody>
      </p:sp>
      <p:sp>
        <p:nvSpPr>
          <p:cNvPr id="15" name="TextBox 14"/>
          <p:cNvSpPr txBox="1"/>
          <p:nvPr/>
        </p:nvSpPr>
        <p:spPr>
          <a:xfrm>
            <a:off x="7772400" y="438912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Verdict</a:t>
            </a:r>
          </a:p>
        </p:txBody>
      </p:sp>
      <p:sp>
        <p:nvSpPr>
          <p:cNvPr id="16" name="TextBox 15"/>
          <p:cNvSpPr txBox="1"/>
          <p:nvPr/>
        </p:nvSpPr>
        <p:spPr>
          <a:xfrm>
            <a:off x="7772400" y="464515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the Transformer route is hardware-mismatched to neuromorphic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02 · TWO PARADIGMS OF INTELLIGENCE</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03</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They are opposites — and only one fits 20-watt hardware</a:t>
            </a:r>
          </a:p>
        </p:txBody>
      </p:sp>
      <p:sp>
        <p:nvSpPr>
          <p:cNvPr id="6" name="Rectangle 5"/>
          <p:cNvSpPr/>
          <p:nvPr/>
        </p:nvSpPr>
        <p:spPr>
          <a:xfrm>
            <a:off x="548640" y="1600200"/>
            <a:ext cx="11091672" cy="457200"/>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600200"/>
            <a:ext cx="2487168" cy="457200"/>
          </a:xfrm>
          <a:prstGeom prst="rect">
            <a:avLst/>
          </a:prstGeom>
          <a:noFill/>
        </p:spPr>
        <p:txBody>
          <a:bodyPr wrap="square" anchor="ctr" lIns="0" rIns="0" tIns="0" bIns="0">
            <a:spAutoFit/>
          </a:bodyPr>
          <a:lstStyle/>
          <a:p>
            <a:pPr algn="l">
              <a:lnSpc>
                <a:spcPct val="105000"/>
              </a:lnSpc>
            </a:pPr>
            <a:r>
              <a:rPr sz="1100" b="1" spc="50">
                <a:solidFill>
                  <a:srgbClr val="93A0AE"/>
                </a:solidFill>
                <a:latin typeface="Consolas"/>
              </a:rPr>
              <a:t>DIMENSION</a:t>
            </a:r>
          </a:p>
        </p:txBody>
      </p:sp>
      <p:sp>
        <p:nvSpPr>
          <p:cNvPr id="8" name="TextBox 7"/>
          <p:cNvSpPr txBox="1"/>
          <p:nvPr/>
        </p:nvSpPr>
        <p:spPr>
          <a:xfrm>
            <a:off x="3419856" y="1600200"/>
            <a:ext cx="3950207" cy="457200"/>
          </a:xfrm>
          <a:prstGeom prst="rect">
            <a:avLst/>
          </a:prstGeom>
          <a:noFill/>
        </p:spPr>
        <p:txBody>
          <a:bodyPr wrap="square" anchor="ctr" lIns="0" rIns="0" tIns="0" bIns="0">
            <a:spAutoFit/>
          </a:bodyPr>
          <a:lstStyle/>
          <a:p>
            <a:pPr algn="l">
              <a:lnSpc>
                <a:spcPct val="105000"/>
              </a:lnSpc>
            </a:pPr>
            <a:r>
              <a:rPr sz="1100" b="1" spc="50">
                <a:solidFill>
                  <a:srgbClr val="E0A05A"/>
                </a:solidFill>
                <a:latin typeface="Consolas"/>
              </a:rPr>
              <a:t>TRANSFORMER PARADIGM</a:t>
            </a:r>
          </a:p>
        </p:txBody>
      </p:sp>
      <p:sp>
        <p:nvSpPr>
          <p:cNvPr id="9" name="TextBox 8"/>
          <p:cNvSpPr txBox="1"/>
          <p:nvPr/>
        </p:nvSpPr>
        <p:spPr>
          <a:xfrm>
            <a:off x="7626096" y="1600200"/>
            <a:ext cx="3886200" cy="457200"/>
          </a:xfrm>
          <a:prstGeom prst="rect">
            <a:avLst/>
          </a:prstGeom>
          <a:noFill/>
        </p:spPr>
        <p:txBody>
          <a:bodyPr wrap="square" anchor="ctr" lIns="0" rIns="0" tIns="0" bIns="0">
            <a:spAutoFit/>
          </a:bodyPr>
          <a:lstStyle/>
          <a:p>
            <a:pPr algn="l">
              <a:lnSpc>
                <a:spcPct val="105000"/>
              </a:lnSpc>
            </a:pPr>
            <a:r>
              <a:rPr sz="1100" b="1" spc="50">
                <a:solidFill>
                  <a:srgbClr val="25C6D2"/>
                </a:solidFill>
                <a:latin typeface="Consolas"/>
              </a:rPr>
              <a:t>BRAIN PARADIGM</a:t>
            </a:r>
          </a:p>
        </p:txBody>
      </p:sp>
      <p:sp>
        <p:nvSpPr>
          <p:cNvPr id="10" name="Rectangle 9"/>
          <p:cNvSpPr/>
          <p:nvPr/>
        </p:nvSpPr>
        <p:spPr>
          <a:xfrm>
            <a:off x="548640" y="2057400"/>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548640" y="205740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205740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State</a:t>
            </a:r>
          </a:p>
        </p:txBody>
      </p:sp>
      <p:sp>
        <p:nvSpPr>
          <p:cNvPr id="13" name="TextBox 12"/>
          <p:cNvSpPr txBox="1"/>
          <p:nvPr/>
        </p:nvSpPr>
        <p:spPr>
          <a:xfrm>
            <a:off x="3419856" y="205740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stateless · re-reads full context</a:t>
            </a:r>
          </a:p>
        </p:txBody>
      </p:sp>
      <p:sp>
        <p:nvSpPr>
          <p:cNvPr id="14" name="TextBox 13"/>
          <p:cNvSpPr txBox="1"/>
          <p:nvPr/>
        </p:nvSpPr>
        <p:spPr>
          <a:xfrm>
            <a:off x="7626096" y="205740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persistent recurrent dynamics</a:t>
            </a:r>
          </a:p>
        </p:txBody>
      </p:sp>
      <p:sp>
        <p:nvSpPr>
          <p:cNvPr id="15" name="Rectangle 14"/>
          <p:cNvSpPr/>
          <p:nvPr/>
        </p:nvSpPr>
        <p:spPr>
          <a:xfrm>
            <a:off x="548640" y="2660904"/>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48640" y="2660904"/>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6656" y="2660904"/>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Memory</a:t>
            </a:r>
          </a:p>
        </p:txBody>
      </p:sp>
      <p:sp>
        <p:nvSpPr>
          <p:cNvPr id="18" name="TextBox 17"/>
          <p:cNvSpPr txBox="1"/>
          <p:nvPr/>
        </p:nvSpPr>
        <p:spPr>
          <a:xfrm>
            <a:off x="3419856" y="2660904"/>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external KV cache (grows with context)</a:t>
            </a:r>
          </a:p>
        </p:txBody>
      </p:sp>
      <p:sp>
        <p:nvSpPr>
          <p:cNvPr id="19" name="TextBox 18"/>
          <p:cNvSpPr txBox="1"/>
          <p:nvPr/>
        </p:nvSpPr>
        <p:spPr>
          <a:xfrm>
            <a:off x="7626096" y="2660904"/>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compressed into state + synapses</a:t>
            </a:r>
          </a:p>
        </p:txBody>
      </p:sp>
      <p:sp>
        <p:nvSpPr>
          <p:cNvPr id="20" name="Rectangle 19"/>
          <p:cNvSpPr/>
          <p:nvPr/>
        </p:nvSpPr>
        <p:spPr>
          <a:xfrm>
            <a:off x="548640" y="3264408"/>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548640" y="3264408"/>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6656" y="3264408"/>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Compute spent on</a:t>
            </a:r>
          </a:p>
        </p:txBody>
      </p:sp>
      <p:sp>
        <p:nvSpPr>
          <p:cNvPr id="23" name="TextBox 22"/>
          <p:cNvSpPr txBox="1"/>
          <p:nvPr/>
        </p:nvSpPr>
        <p:spPr>
          <a:xfrm>
            <a:off x="3419856" y="3264408"/>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dense all-pairs retrieval (QKᵀ)</a:t>
            </a:r>
          </a:p>
        </p:txBody>
      </p:sp>
      <p:sp>
        <p:nvSpPr>
          <p:cNvPr id="24" name="TextBox 23"/>
          <p:cNvSpPr txBox="1"/>
          <p:nvPr/>
        </p:nvSpPr>
        <p:spPr>
          <a:xfrm>
            <a:off x="7626096" y="3264408"/>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only prediction error (surprise)</a:t>
            </a:r>
          </a:p>
        </p:txBody>
      </p:sp>
      <p:sp>
        <p:nvSpPr>
          <p:cNvPr id="25" name="Rectangle 24"/>
          <p:cNvSpPr/>
          <p:nvPr/>
        </p:nvSpPr>
        <p:spPr>
          <a:xfrm>
            <a:off x="548640" y="3867912"/>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48640" y="3867912"/>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6656" y="3867912"/>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Learning</a:t>
            </a:r>
          </a:p>
        </p:txBody>
      </p:sp>
      <p:sp>
        <p:nvSpPr>
          <p:cNvPr id="28" name="TextBox 27"/>
          <p:cNvSpPr txBox="1"/>
          <p:nvPr/>
        </p:nvSpPr>
        <p:spPr>
          <a:xfrm>
            <a:off x="3419856" y="3867912"/>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offline · global backprop · huge data</a:t>
            </a:r>
          </a:p>
        </p:txBody>
      </p:sp>
      <p:sp>
        <p:nvSpPr>
          <p:cNvPr id="29" name="TextBox 28"/>
          <p:cNvSpPr txBox="1"/>
          <p:nvPr/>
        </p:nvSpPr>
        <p:spPr>
          <a:xfrm>
            <a:off x="7626096" y="3867912"/>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online · local plasticity · continual</a:t>
            </a:r>
          </a:p>
        </p:txBody>
      </p:sp>
      <p:sp>
        <p:nvSpPr>
          <p:cNvPr id="30" name="Rectangle 29"/>
          <p:cNvSpPr/>
          <p:nvPr/>
        </p:nvSpPr>
        <p:spPr>
          <a:xfrm>
            <a:off x="548640" y="4471416"/>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48640" y="4471416"/>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76656" y="4471416"/>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Source of intelligence</a:t>
            </a:r>
          </a:p>
        </p:txBody>
      </p:sp>
      <p:sp>
        <p:nvSpPr>
          <p:cNvPr id="33" name="TextBox 32"/>
          <p:cNvSpPr txBox="1"/>
          <p:nvPr/>
        </p:nvSpPr>
        <p:spPr>
          <a:xfrm>
            <a:off x="3419856" y="4471416"/>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scale + retrieval</a:t>
            </a:r>
          </a:p>
        </p:txBody>
      </p:sp>
      <p:sp>
        <p:nvSpPr>
          <p:cNvPr id="34" name="TextBox 33"/>
          <p:cNvSpPr txBox="1"/>
          <p:nvPr/>
        </p:nvSpPr>
        <p:spPr>
          <a:xfrm>
            <a:off x="7626096" y="4471416"/>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prediction + compression + action</a:t>
            </a:r>
          </a:p>
        </p:txBody>
      </p:sp>
      <p:sp>
        <p:nvSpPr>
          <p:cNvPr id="35" name="Rectangle 34"/>
          <p:cNvSpPr/>
          <p:nvPr/>
        </p:nvSpPr>
        <p:spPr>
          <a:xfrm>
            <a:off x="548640" y="5074920"/>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507492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6656" y="507492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Cost on neuromorphic</a:t>
            </a:r>
          </a:p>
        </p:txBody>
      </p:sp>
      <p:sp>
        <p:nvSpPr>
          <p:cNvPr id="38" name="TextBox 37"/>
          <p:cNvSpPr txBox="1"/>
          <p:nvPr/>
        </p:nvSpPr>
        <p:spPr>
          <a:xfrm>
            <a:off x="3419856" y="507492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memory wall / dense MACs ✗</a:t>
            </a:r>
          </a:p>
        </p:txBody>
      </p:sp>
      <p:sp>
        <p:nvSpPr>
          <p:cNvPr id="39" name="TextBox 38"/>
          <p:cNvSpPr txBox="1"/>
          <p:nvPr/>
        </p:nvSpPr>
        <p:spPr>
          <a:xfrm>
            <a:off x="7626096" y="507492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event-driven, analog, local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03 · WHY THE BRAIN PAYS NEITHER COST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04</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brain violates the assumption behind our own bound</a:t>
            </a:r>
          </a:p>
        </p:txBody>
      </p:sp>
      <p:sp>
        <p:nvSpPr>
          <p:cNvPr id="6" name="TextBox 5"/>
          <p:cNvSpPr txBox="1"/>
          <p:nvPr/>
        </p:nvSpPr>
        <p:spPr>
          <a:xfrm>
            <a:off x="548640" y="1554480"/>
            <a:ext cx="10972800" cy="822960"/>
          </a:xfrm>
          <a:prstGeom prst="rect">
            <a:avLst/>
          </a:prstGeom>
          <a:noFill/>
        </p:spPr>
        <p:txBody>
          <a:bodyPr wrap="square" anchor="t" lIns="0" rIns="0" tIns="0" bIns="0">
            <a:spAutoFit/>
          </a:bodyPr>
          <a:lstStyle/>
          <a:p>
            <a:pPr algn="l">
              <a:lnSpc>
                <a:spcPct val="125000"/>
              </a:lnSpc>
            </a:pPr>
            <a:r>
              <a:rPr sz="1500" b="0">
                <a:solidFill>
                  <a:srgbClr val="93A0AE"/>
                </a:solidFill>
                <a:latin typeface="Arial"/>
              </a:rPr>
              <a:t>Our firing-floor bound  </a:t>
            </a:r>
            <a:r>
              <a:rPr sz="1500" b="1">
                <a:solidFill>
                  <a:srgbClr val="25C6D2"/>
                </a:solidFill>
                <a:latin typeface="Consolas"/>
              </a:rPr>
              <a:t>ρ ≥ Hᵇ⁻¹(log₂M / H)  </a:t>
            </a:r>
            <a:r>
              <a:rPr sz="1500" b="0">
                <a:solidFill>
                  <a:srgbClr val="93A0AE"/>
                </a:solidFill>
                <a:latin typeface="Arial"/>
              </a:rPr>
              <a:t>assumes information travels </a:t>
            </a:r>
            <a:r>
              <a:rPr sz="1500" b="1">
                <a:solidFill>
                  <a:srgbClr val="E7ECF2"/>
                </a:solidFill>
                <a:latin typeface="Arial"/>
              </a:rPr>
              <a:t>only in spikes</a:t>
            </a:r>
            <a:r>
              <a:rPr sz="1500" b="0">
                <a:solidFill>
                  <a:srgbClr val="93A0AE"/>
                </a:solidFill>
                <a:latin typeface="Arial"/>
              </a:rPr>
              <a:t>. The brain breaks exactly that assumption — three ways:</a:t>
            </a:r>
          </a:p>
        </p:txBody>
      </p:sp>
      <p:sp>
        <p:nvSpPr>
          <p:cNvPr id="7" name="Rounded Rectangle 6"/>
          <p:cNvSpPr/>
          <p:nvPr/>
        </p:nvSpPr>
        <p:spPr>
          <a:xfrm>
            <a:off x="548640"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Analog state, spikes for surprise</a:t>
            </a:r>
          </a:p>
        </p:txBody>
      </p:sp>
      <p:sp>
        <p:nvSpPr>
          <p:cNvPr id="10" name="TextBox 9"/>
          <p:cNvSpPr txBox="1"/>
          <p:nvPr/>
        </p:nvSpPr>
        <p:spPr>
          <a:xfrm>
            <a:off x="822959"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Memory lives in sub-threshold membrane + short-term synaptic state (activity-silent). Spikes signal only errors → escapes the firing floor AND the KV memory wall.</a:t>
            </a:r>
          </a:p>
        </p:txBody>
      </p:sp>
      <p:sp>
        <p:nvSpPr>
          <p:cNvPr id="11" name="Rounded Rectangle 10"/>
          <p:cNvSpPr/>
          <p:nvPr/>
        </p:nvSpPr>
        <p:spPr>
          <a:xfrm>
            <a:off x="4370831"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Enormous H</a:t>
            </a:r>
          </a:p>
        </p:txBody>
      </p:sp>
      <p:sp>
        <p:nvSpPr>
          <p:cNvPr id="14" name="TextBox 13"/>
          <p:cNvSpPr txBox="1"/>
          <p:nvPr/>
        </p:nvSpPr>
        <p:spPr>
          <a:xfrm>
            <a:off x="4645151"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10¹¹ neurons → log₂M / H ≈ 0 → ρ_min → 0. Sparse distributed coding is nearly free in high dimension.</a:t>
            </a:r>
          </a:p>
        </p:txBody>
      </p:sp>
      <p:sp>
        <p:nvSpPr>
          <p:cNvPr id="15" name="Rounded Rectangle 14"/>
          <p:cNvSpPr/>
          <p:nvPr/>
        </p:nvSpPr>
        <p:spPr>
          <a:xfrm>
            <a:off x="8193023"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3"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Local, multi-timescale learning</a:t>
            </a:r>
          </a:p>
        </p:txBody>
      </p:sp>
      <p:sp>
        <p:nvSpPr>
          <p:cNvPr id="18" name="TextBox 17"/>
          <p:cNvSpPr txBox="1"/>
          <p:nvPr/>
        </p:nvSpPr>
        <p:spPr>
          <a:xfrm>
            <a:off x="8467344"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Fast spikes / slow synapses / neuromodulation; local plasticity, continual — no backprop through all of history.</a:t>
            </a:r>
          </a:p>
        </p:txBody>
      </p:sp>
      <p:sp>
        <p:nvSpPr>
          <p:cNvPr id="19" name="TextBox 18"/>
          <p:cNvSpPr txBox="1"/>
          <p:nvPr/>
        </p:nvSpPr>
        <p:spPr>
          <a:xfrm>
            <a:off x="548640" y="6016752"/>
            <a:ext cx="10972800" cy="365760"/>
          </a:xfrm>
          <a:prstGeom prst="rect">
            <a:avLst/>
          </a:prstGeom>
          <a:noFill/>
        </p:spPr>
        <p:txBody>
          <a:bodyPr wrap="square" anchor="t" lIns="0" rIns="0" tIns="0" bIns="0">
            <a:spAutoFit/>
          </a:bodyPr>
          <a:lstStyle/>
          <a:p>
            <a:pPr algn="l">
              <a:lnSpc>
                <a:spcPct val="110000"/>
              </a:lnSpc>
            </a:pPr>
            <a:r>
              <a:rPr sz="1300" b="0">
                <a:solidFill>
                  <a:srgbClr val="93A0AE"/>
                </a:solidFill>
                <a:latin typeface="Arial"/>
              </a:rPr>
              <a:t>⇒ The brain is the </a:t>
            </a:r>
            <a:r>
              <a:rPr sz="1300" b="1">
                <a:solidFill>
                  <a:srgbClr val="9B8CFF"/>
                </a:solidFill>
                <a:latin typeface="Arial"/>
              </a:rPr>
              <a:t>existence proof</a:t>
            </a:r>
            <a:r>
              <a:rPr sz="1300" b="0">
                <a:solidFill>
                  <a:srgbClr val="E7ECF2"/>
                </a:solidFill>
                <a:latin typeface="Arial"/>
              </a:rPr>
              <a:t>: general intelligence at 20 W, ~1000× more efficient than GPUs — via prediction + sparsity + locality, not attention.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04 · THE LANDSCAPE OF NON-ATTENTION PARADIGMS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05</a:t>
            </a:r>
          </a:p>
        </p:txBody>
      </p:sp>
      <p:sp>
        <p:nvSpPr>
          <p:cNvPr id="5" name="TextBox 4"/>
          <p:cNvSpPr txBox="1"/>
          <p:nvPr/>
        </p:nvSpPr>
        <p:spPr>
          <a:xfrm>
            <a:off x="548640" y="749808"/>
            <a:ext cx="10972800" cy="457200"/>
          </a:xfrm>
          <a:prstGeom prst="rect">
            <a:avLst/>
          </a:prstGeom>
          <a:noFill/>
        </p:spPr>
        <p:txBody>
          <a:bodyPr wrap="square" anchor="t" lIns="0" rIns="0" tIns="0" bIns="0">
            <a:spAutoFit/>
          </a:bodyPr>
          <a:lstStyle/>
          <a:p>
            <a:pPr algn="l">
              <a:lnSpc>
                <a:spcPct val="105000"/>
              </a:lnSpc>
            </a:pPr>
            <a:r>
              <a:rPr sz="2200" b="1">
                <a:solidFill>
                  <a:srgbClr val="E7ECF2"/>
                </a:solidFill>
                <a:latin typeface="Arial"/>
              </a:rPr>
              <a:t>Six paradigms that reach intelligence without dense attention</a:t>
            </a:r>
          </a:p>
        </p:txBody>
      </p:sp>
      <p:sp>
        <p:nvSpPr>
          <p:cNvPr id="6" name="Rectangle 5"/>
          <p:cNvSpPr/>
          <p:nvPr/>
        </p:nvSpPr>
        <p:spPr>
          <a:xfrm>
            <a:off x="548640" y="1417320"/>
            <a:ext cx="11091672" cy="420624"/>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17320"/>
            <a:ext cx="2148839"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PARADIGM</a:t>
            </a:r>
          </a:p>
        </p:txBody>
      </p:sp>
      <p:sp>
        <p:nvSpPr>
          <p:cNvPr id="8" name="TextBox 7"/>
          <p:cNvSpPr txBox="1"/>
          <p:nvPr/>
        </p:nvSpPr>
        <p:spPr>
          <a:xfrm>
            <a:off x="2990088" y="1417320"/>
            <a:ext cx="4389120"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CORE MECHANISM</a:t>
            </a:r>
          </a:p>
        </p:txBody>
      </p:sp>
      <p:sp>
        <p:nvSpPr>
          <p:cNvPr id="9" name="TextBox 8"/>
          <p:cNvSpPr txBox="1"/>
          <p:nvPr/>
        </p:nvSpPr>
        <p:spPr>
          <a:xfrm>
            <a:off x="7562088" y="1417320"/>
            <a:ext cx="457199" cy="420624"/>
          </a:xfrm>
          <a:prstGeom prst="rect">
            <a:avLst/>
          </a:prstGeom>
          <a:noFill/>
        </p:spPr>
        <p:txBody>
          <a:bodyPr wrap="square" anchor="ctr" lIns="0" rIns="0" tIns="0" bIns="0">
            <a:spAutoFit/>
          </a:bodyPr>
          <a:lstStyle/>
          <a:p>
            <a:pPr algn="ctr">
              <a:lnSpc>
                <a:spcPct val="105000"/>
              </a:lnSpc>
            </a:pPr>
            <a:r>
              <a:rPr sz="1000" b="1" spc="40">
                <a:solidFill>
                  <a:srgbClr val="93A0AE"/>
                </a:solidFill>
                <a:latin typeface="Consolas"/>
              </a:rPr>
              <a:t>FIT</a:t>
            </a:r>
          </a:p>
        </p:txBody>
      </p:sp>
      <p:sp>
        <p:nvSpPr>
          <p:cNvPr id="10" name="TextBox 9"/>
          <p:cNvSpPr txBox="1"/>
          <p:nvPr/>
        </p:nvSpPr>
        <p:spPr>
          <a:xfrm>
            <a:off x="8202167" y="1417320"/>
            <a:ext cx="3364991"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REPRESENTATIVE WORK (2024–26)</a:t>
            </a:r>
          </a:p>
        </p:txBody>
      </p:sp>
      <p:sp>
        <p:nvSpPr>
          <p:cNvPr id="11" name="Rectangle 10"/>
          <p:cNvSpPr/>
          <p:nvPr/>
        </p:nvSpPr>
        <p:spPr>
          <a:xfrm>
            <a:off x="548640" y="1837944"/>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48640" y="183794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183794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Predictive coding</a:t>
            </a:r>
          </a:p>
        </p:txBody>
      </p:sp>
      <p:sp>
        <p:nvSpPr>
          <p:cNvPr id="14" name="TextBox 13"/>
          <p:cNvSpPr txBox="1"/>
          <p:nvPr/>
        </p:nvSpPr>
        <p:spPr>
          <a:xfrm>
            <a:off x="2990088" y="183794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hierarchical generative model; propagate only errors; local ≈ backprop</a:t>
            </a:r>
          </a:p>
        </p:txBody>
      </p:sp>
      <p:sp>
        <p:nvSpPr>
          <p:cNvPr id="15" name="TextBox 14"/>
          <p:cNvSpPr txBox="1"/>
          <p:nvPr/>
        </p:nvSpPr>
        <p:spPr>
          <a:xfrm>
            <a:off x="7562088" y="183794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16" name="TextBox 15"/>
          <p:cNvSpPr txBox="1"/>
          <p:nvPr/>
        </p:nvSpPr>
        <p:spPr>
          <a:xfrm>
            <a:off x="8202167" y="183794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Millidge+22; Salvatori/Song ICLR’24</a:t>
            </a:r>
          </a:p>
        </p:txBody>
      </p:sp>
      <p:sp>
        <p:nvSpPr>
          <p:cNvPr id="17" name="Rectangle 16"/>
          <p:cNvSpPr/>
          <p:nvPr/>
        </p:nvSpPr>
        <p:spPr>
          <a:xfrm>
            <a:off x="548640" y="2551176"/>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8640" y="2551176"/>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551176"/>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Equilibrium propagation</a:t>
            </a:r>
          </a:p>
        </p:txBody>
      </p:sp>
      <p:sp>
        <p:nvSpPr>
          <p:cNvPr id="20" name="TextBox 19"/>
          <p:cNvSpPr txBox="1"/>
          <p:nvPr/>
        </p:nvSpPr>
        <p:spPr>
          <a:xfrm>
            <a:off x="2990088" y="2551176"/>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relax to energy minimum; local weight updates; analog-native</a:t>
            </a:r>
          </a:p>
        </p:txBody>
      </p:sp>
      <p:sp>
        <p:nvSpPr>
          <p:cNvPr id="21" name="TextBox 20"/>
          <p:cNvSpPr txBox="1"/>
          <p:nvPr/>
        </p:nvSpPr>
        <p:spPr>
          <a:xfrm>
            <a:off x="7562088" y="2551176"/>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2" name="TextBox 21"/>
          <p:cNvSpPr txBox="1"/>
          <p:nvPr/>
        </p:nvSpPr>
        <p:spPr>
          <a:xfrm>
            <a:off x="8202167" y="2551176"/>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EqSpike; ImageNet-EP ’26; −10⁴ train energy</a:t>
            </a:r>
          </a:p>
        </p:txBody>
      </p:sp>
      <p:sp>
        <p:nvSpPr>
          <p:cNvPr id="23" name="Rectangle 22"/>
          <p:cNvSpPr/>
          <p:nvPr/>
        </p:nvSpPr>
        <p:spPr>
          <a:xfrm>
            <a:off x="548640" y="3264408"/>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48640" y="3264408"/>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264408"/>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Analog / spiking SSM</a:t>
            </a:r>
          </a:p>
        </p:txBody>
      </p:sp>
      <p:sp>
        <p:nvSpPr>
          <p:cNvPr id="26" name="TextBox 25"/>
          <p:cNvSpPr txBox="1"/>
          <p:nvPr/>
        </p:nvSpPr>
        <p:spPr>
          <a:xfrm>
            <a:off x="2990088" y="3264408"/>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linear recurrence, no KV cache, O(L); state in analog dynamics</a:t>
            </a:r>
          </a:p>
        </p:txBody>
      </p:sp>
      <p:sp>
        <p:nvSpPr>
          <p:cNvPr id="27" name="TextBox 26"/>
          <p:cNvSpPr txBox="1"/>
          <p:nvPr/>
        </p:nvSpPr>
        <p:spPr>
          <a:xfrm>
            <a:off x="7562088" y="3264408"/>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8" name="TextBox 27"/>
          <p:cNvSpPr txBox="1"/>
          <p:nvPr/>
        </p:nvSpPr>
        <p:spPr>
          <a:xfrm>
            <a:off x="8202167" y="3264408"/>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Mamba; SpikingMamba; SpikySpace ’26</a:t>
            </a:r>
          </a:p>
        </p:txBody>
      </p:sp>
      <p:sp>
        <p:nvSpPr>
          <p:cNvPr id="29" name="Rectangle 28"/>
          <p:cNvSpPr/>
          <p:nvPr/>
        </p:nvSpPr>
        <p:spPr>
          <a:xfrm>
            <a:off x="548640" y="3977639"/>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48640" y="3977639"/>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3977639"/>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World models / JEPA</a:t>
            </a:r>
          </a:p>
        </p:txBody>
      </p:sp>
      <p:sp>
        <p:nvSpPr>
          <p:cNvPr id="32" name="TextBox 31"/>
          <p:cNvSpPr txBox="1"/>
          <p:nvPr/>
        </p:nvSpPr>
        <p:spPr>
          <a:xfrm>
            <a:off x="2990088" y="3977639"/>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predict in latent space (not tokens/pixels); plan by simulation</a:t>
            </a:r>
          </a:p>
        </p:txBody>
      </p:sp>
      <p:sp>
        <p:nvSpPr>
          <p:cNvPr id="33" name="TextBox 32"/>
          <p:cNvSpPr txBox="1"/>
          <p:nvPr/>
        </p:nvSpPr>
        <p:spPr>
          <a:xfrm>
            <a:off x="7562088" y="3977639"/>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34" name="TextBox 33"/>
          <p:cNvSpPr txBox="1"/>
          <p:nvPr/>
        </p:nvSpPr>
        <p:spPr>
          <a:xfrm>
            <a:off x="8202167" y="3977639"/>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LeCun V-JEPA 2; LeJEPA ’25</a:t>
            </a:r>
          </a:p>
        </p:txBody>
      </p:sp>
      <p:sp>
        <p:nvSpPr>
          <p:cNvPr id="35" name="Rectangle 34"/>
          <p:cNvSpPr/>
          <p:nvPr/>
        </p:nvSpPr>
        <p:spPr>
          <a:xfrm>
            <a:off x="548640" y="4690872"/>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4690872"/>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690872"/>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Associative / Hopfield</a:t>
            </a:r>
          </a:p>
        </p:txBody>
      </p:sp>
      <p:sp>
        <p:nvSpPr>
          <p:cNvPr id="38" name="TextBox 37"/>
          <p:cNvSpPr txBox="1"/>
          <p:nvPr/>
        </p:nvSpPr>
        <p:spPr>
          <a:xfrm>
            <a:off x="2990088" y="4690872"/>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content-addressable attractor retrieval = attention as dynamics</a:t>
            </a:r>
          </a:p>
        </p:txBody>
      </p:sp>
      <p:sp>
        <p:nvSpPr>
          <p:cNvPr id="39" name="TextBox 38"/>
          <p:cNvSpPr txBox="1"/>
          <p:nvPr/>
        </p:nvSpPr>
        <p:spPr>
          <a:xfrm>
            <a:off x="7562088" y="4690872"/>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0" name="TextBox 39"/>
          <p:cNvSpPr txBox="1"/>
          <p:nvPr/>
        </p:nvSpPr>
        <p:spPr>
          <a:xfrm>
            <a:off x="8202167" y="4690872"/>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Ramsauer; Hopfield–Fenchel–Young ’24</a:t>
            </a:r>
          </a:p>
        </p:txBody>
      </p:sp>
      <p:sp>
        <p:nvSpPr>
          <p:cNvPr id="41" name="Rectangle 40"/>
          <p:cNvSpPr/>
          <p:nvPr/>
        </p:nvSpPr>
        <p:spPr>
          <a:xfrm>
            <a:off x="548640" y="5404104"/>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548640" y="540410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540410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Active inference</a:t>
            </a:r>
          </a:p>
        </p:txBody>
      </p:sp>
      <p:sp>
        <p:nvSpPr>
          <p:cNvPr id="44" name="TextBox 43"/>
          <p:cNvSpPr txBox="1"/>
          <p:nvPr/>
        </p:nvSpPr>
        <p:spPr>
          <a:xfrm>
            <a:off x="2990088" y="540410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minimize expected surprise; perception–action loop; embodied</a:t>
            </a:r>
          </a:p>
        </p:txBody>
      </p:sp>
      <p:sp>
        <p:nvSpPr>
          <p:cNvPr id="45" name="TextBox 44"/>
          <p:cNvSpPr txBox="1"/>
          <p:nvPr/>
        </p:nvSpPr>
        <p:spPr>
          <a:xfrm>
            <a:off x="7562088" y="540410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6" name="TextBox 45"/>
          <p:cNvSpPr txBox="1"/>
          <p:nvPr/>
        </p:nvSpPr>
        <p:spPr>
          <a:xfrm>
            <a:off x="8202167" y="540410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Friston; scale-free active inference ’25</a:t>
            </a:r>
          </a:p>
        </p:txBody>
      </p:sp>
      <p:sp>
        <p:nvSpPr>
          <p:cNvPr id="47" name="TextBox 46"/>
          <p:cNvSpPr txBox="1"/>
          <p:nvPr/>
        </p:nvSpPr>
        <p:spPr>
          <a:xfrm>
            <a:off x="548640" y="6227064"/>
            <a:ext cx="10972800" cy="274320"/>
          </a:xfrm>
          <a:prstGeom prst="rect">
            <a:avLst/>
          </a:prstGeom>
          <a:noFill/>
        </p:spPr>
        <p:txBody>
          <a:bodyPr wrap="square" anchor="t" lIns="0" rIns="0" tIns="0" bIns="0">
            <a:spAutoFit/>
          </a:bodyPr>
          <a:lstStyle/>
          <a:p>
            <a:pPr algn="l">
              <a:lnSpc>
                <a:spcPct val="105000"/>
              </a:lnSpc>
            </a:pPr>
            <a:r>
              <a:rPr sz="1000" b="0">
                <a:solidFill>
                  <a:srgbClr val="667280"/>
                </a:solidFill>
                <a:latin typeface="Consolas"/>
              </a:rPr>
              <a:t>✓✓ = neuromorphic physics is an advantage (analog, event-driven, local)   ·   ✓ = algorithmic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05 · THE BET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06</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Where I would place neuromorphic intelligence</a:t>
            </a:r>
          </a:p>
        </p:txBody>
      </p:sp>
      <p:sp>
        <p:nvSpPr>
          <p:cNvPr id="6" name="Rounded Rectangle 5"/>
          <p:cNvSpPr/>
          <p:nvPr/>
        </p:nvSpPr>
        <p:spPr>
          <a:xfrm>
            <a:off x="548640" y="1600200"/>
            <a:ext cx="11064240" cy="1417320"/>
          </a:xfrm>
          <a:prstGeom prst="roundRect">
            <a:avLst>
              <a:gd name="adj" fmla="val 8000"/>
            </a:avLst>
          </a:prstGeom>
          <a:solidFill>
            <a:srgbClr val="102A2C"/>
          </a:solidFill>
          <a:ln w="15875">
            <a:solidFill>
              <a:srgbClr val="25C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10424160" cy="1097280"/>
          </a:xfrm>
          <a:prstGeom prst="rect">
            <a:avLst/>
          </a:prstGeom>
          <a:noFill/>
        </p:spPr>
        <p:txBody>
          <a:bodyPr wrap="square" anchor="t" lIns="0" rIns="0" tIns="0" bIns="0">
            <a:spAutoFit/>
          </a:bodyPr>
          <a:lstStyle/>
          <a:p>
            <a:pPr algn="l">
              <a:lnSpc>
                <a:spcPct val="120000"/>
              </a:lnSpc>
            </a:pPr>
            <a:r>
              <a:rPr sz="1900" b="1">
                <a:solidFill>
                  <a:srgbClr val="E7ECF2"/>
                </a:solidFill>
                <a:latin typeface="Arial"/>
              </a:rPr>
              <a:t>A predictive world-model held in analog recurrent dynamics,
</a:t>
            </a:r>
            <a:r>
              <a:rPr sz="1400" b="0">
                <a:solidFill>
                  <a:srgbClr val="93A0AE"/>
                </a:solidFill>
                <a:latin typeface="Arial"/>
              </a:rPr>
              <a:t>learned locally &amp; online (predictive coding / equilibrium propagation), acting in a closed loop — spikes carry only surprise.</a:t>
            </a:r>
          </a:p>
        </p:txBody>
      </p:sp>
      <p:sp>
        <p:nvSpPr>
          <p:cNvPr id="8" name="TextBox 7"/>
          <p:cNvSpPr txBox="1"/>
          <p:nvPr/>
        </p:nvSpPr>
        <p:spPr>
          <a:xfrm>
            <a:off x="548640" y="3291840"/>
            <a:ext cx="10972800" cy="457200"/>
          </a:xfrm>
          <a:prstGeom prst="rect">
            <a:avLst/>
          </a:prstGeom>
          <a:noFill/>
        </p:spPr>
        <p:txBody>
          <a:bodyPr wrap="square" anchor="t" lIns="0" rIns="0" tIns="0" bIns="0">
            <a:spAutoFit/>
          </a:bodyPr>
          <a:lstStyle/>
          <a:p>
            <a:pPr algn="l">
              <a:lnSpc>
                <a:spcPct val="105000"/>
              </a:lnSpc>
            </a:pPr>
            <a:r>
              <a:rPr sz="1500" b="1">
                <a:solidFill>
                  <a:srgbClr val="E7ECF2"/>
                </a:solidFill>
                <a:latin typeface="Arial"/>
              </a:rPr>
              <a:t>Why this is not “settling” — the hardware–paradigm alignment:</a:t>
            </a:r>
          </a:p>
        </p:txBody>
      </p:sp>
      <p:sp>
        <p:nvSpPr>
          <p:cNvPr id="9" name="Rectangle 8"/>
          <p:cNvSpPr/>
          <p:nvPr/>
        </p:nvSpPr>
        <p:spPr>
          <a:xfrm>
            <a:off x="548640" y="38862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8404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Analog state escapes both traps</a:t>
            </a:r>
          </a:p>
        </p:txBody>
      </p:sp>
      <p:sp>
        <p:nvSpPr>
          <p:cNvPr id="11" name="TextBox 10"/>
          <p:cNvSpPr txBox="1"/>
          <p:nvPr/>
        </p:nvSpPr>
        <p:spPr>
          <a:xfrm>
            <a:off x="6126480" y="38404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memory in membranes/synapses, not a KV cache → no memory wall, no firing floor</a:t>
            </a:r>
          </a:p>
        </p:txBody>
      </p:sp>
      <p:sp>
        <p:nvSpPr>
          <p:cNvPr id="12" name="Rectangle 11"/>
          <p:cNvSpPr/>
          <p:nvPr/>
        </p:nvSpPr>
        <p:spPr>
          <a:xfrm>
            <a:off x="548640" y="45720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262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Event-driven = compute only on surprise</a:t>
            </a:r>
          </a:p>
        </p:txBody>
      </p:sp>
      <p:sp>
        <p:nvSpPr>
          <p:cNvPr id="14" name="TextBox 13"/>
          <p:cNvSpPr txBox="1"/>
          <p:nvPr/>
        </p:nvSpPr>
        <p:spPr>
          <a:xfrm>
            <a:off x="6126480" y="45262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predictive coding's error-only propagation IS event-driven — native to spiking silicon</a:t>
            </a:r>
          </a:p>
        </p:txBody>
      </p:sp>
      <p:sp>
        <p:nvSpPr>
          <p:cNvPr id="15" name="Rectangle 14"/>
          <p:cNvSpPr/>
          <p:nvPr/>
        </p:nvSpPr>
        <p:spPr>
          <a:xfrm>
            <a:off x="548640" y="52578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Local plasticity = on-chip learning</a:t>
            </a:r>
          </a:p>
        </p:txBody>
      </p:sp>
      <p:sp>
        <p:nvSpPr>
          <p:cNvPr id="17" name="TextBox 16"/>
          <p:cNvSpPr txBox="1"/>
          <p:nvPr/>
        </p:nvSpPr>
        <p:spPr>
          <a:xfrm>
            <a:off x="6126480" y="52120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EqProp/PC learn with local rules → training without global backprop, ~10⁴ less energy</a:t>
            </a:r>
          </a:p>
        </p:txBody>
      </p:sp>
      <p:sp>
        <p:nvSpPr>
          <p:cNvPr id="18" name="Rectangle 17"/>
          <p:cNvSpPr/>
          <p:nvPr/>
        </p:nvSpPr>
        <p:spPr>
          <a:xfrm>
            <a:off x="548640" y="59436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978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Recurrence + search = reasoning</a:t>
            </a:r>
          </a:p>
        </p:txBody>
      </p:sp>
      <p:sp>
        <p:nvSpPr>
          <p:cNvPr id="20" name="TextBox 19"/>
          <p:cNvSpPr txBox="1"/>
          <p:nvPr/>
        </p:nvSpPr>
        <p:spPr>
          <a:xfrm>
            <a:off x="6126480" y="58978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test-time compute via iterated simulation/planning, not a giant single forward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E0A05A"/>
                </a:solidFill>
                <a:latin typeface="Consolas"/>
              </a:rPr>
              <a:t>06 · HONEST FRONTIER</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07</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uncomfortable truth — and why it's still the right bet</a:t>
            </a:r>
          </a:p>
        </p:txBody>
      </p:sp>
      <p:sp>
        <p:nvSpPr>
          <p:cNvPr id="6" name="Rounded Rectangle 5"/>
          <p:cNvSpPr/>
          <p:nvPr/>
        </p:nvSpPr>
        <p:spPr>
          <a:xfrm>
            <a:off x="548640" y="1600200"/>
            <a:ext cx="548640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4937760" cy="365760"/>
          </a:xfrm>
          <a:prstGeom prst="rect">
            <a:avLst/>
          </a:prstGeom>
          <a:noFill/>
        </p:spPr>
        <p:txBody>
          <a:bodyPr wrap="square" anchor="t" lIns="0" rIns="0" tIns="0" bIns="0">
            <a:spAutoFit/>
          </a:bodyPr>
          <a:lstStyle/>
          <a:p>
            <a:pPr algn="l">
              <a:lnSpc>
                <a:spcPct val="105000"/>
              </a:lnSpc>
            </a:pPr>
            <a:r>
              <a:rPr sz="1200" b="1" spc="60">
                <a:solidFill>
                  <a:srgbClr val="F06A5F"/>
                </a:solidFill>
                <a:latin typeface="Consolas"/>
              </a:rPr>
              <a:t>NONE HAS BEATEN TRANSFORMERS</a:t>
            </a:r>
          </a:p>
        </p:txBody>
      </p:sp>
      <p:sp>
        <p:nvSpPr>
          <p:cNvPr id="8" name="TextBox 7"/>
          <p:cNvSpPr txBox="1"/>
          <p:nvPr/>
        </p:nvSpPr>
        <p:spPr>
          <a:xfrm>
            <a:off x="822960" y="2331720"/>
            <a:ext cx="498348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Predictive coding, EqProp, SSMs, Hopfield, JEPA, active inference — all promising, all more brain-like, </a:t>
            </a:r>
            <a:r>
              <a:rPr sz="1400" b="1">
                <a:solidFill>
                  <a:srgbClr val="E7ECF2"/>
                </a:solidFill>
                <a:latin typeface="Arial"/>
              </a:rPr>
              <a:t>none has yet produced GPT-class general capability.</a:t>
            </a:r>
            <a:r>
              <a:rPr sz="1400" b="0">
                <a:solidFill>
                  <a:srgbClr val="93A0AE"/>
                </a:solidFill>
                <a:latin typeface="Arial"/>
              </a:rPr>
              <a:t>
This is a research bet, not a solved alternative. It should be stated as such.</a:t>
            </a:r>
          </a:p>
        </p:txBody>
      </p:sp>
      <p:sp>
        <p:nvSpPr>
          <p:cNvPr id="9" name="Rounded Rectangle 8"/>
          <p:cNvSpPr/>
          <p:nvPr/>
        </p:nvSpPr>
        <p:spPr>
          <a:xfrm>
            <a:off x="6263640" y="1600200"/>
            <a:ext cx="534924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54864" cy="393192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874519"/>
            <a:ext cx="4846320" cy="365760"/>
          </a:xfrm>
          <a:prstGeom prst="rect">
            <a:avLst/>
          </a:prstGeom>
          <a:noFill/>
        </p:spPr>
        <p:txBody>
          <a:bodyPr wrap="square" anchor="t" lIns="0" rIns="0" tIns="0" bIns="0">
            <a:spAutoFit/>
          </a:bodyPr>
          <a:lstStyle/>
          <a:p>
            <a:pPr algn="l">
              <a:lnSpc>
                <a:spcPct val="105000"/>
              </a:lnSpc>
            </a:pPr>
            <a:r>
              <a:rPr sz="1200" b="1" spc="60">
                <a:solidFill>
                  <a:srgbClr val="9B8CFF"/>
                </a:solidFill>
                <a:latin typeface="Consolas"/>
              </a:rPr>
              <a:t>BUT THERE IS AN EXISTENCE PROOF</a:t>
            </a:r>
          </a:p>
        </p:txBody>
      </p:sp>
      <p:sp>
        <p:nvSpPr>
          <p:cNvPr id="12" name="TextBox 11"/>
          <p:cNvSpPr txBox="1"/>
          <p:nvPr/>
        </p:nvSpPr>
        <p:spPr>
          <a:xfrm>
            <a:off x="6583680" y="2331720"/>
            <a:ext cx="484632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The brain runs general intelligence on </a:t>
            </a:r>
            <a:r>
              <a:rPr sz="1400" b="1">
                <a:solidFill>
                  <a:srgbClr val="9B8CFF"/>
                </a:solidFill>
                <a:latin typeface="Arial"/>
              </a:rPr>
              <a:t>20 watts</a:t>
            </a:r>
            <a:r>
              <a:rPr sz="1400" b="0">
                <a:solidFill>
                  <a:srgbClr val="93A0AE"/>
                </a:solidFill>
                <a:latin typeface="Arial"/>
              </a:rPr>
              <a:t>, ~1000× more efficient than GPUs — using exactly this paradigm: prediction, sparsity, locality, embodiment.</a:t>
            </a:r>
            <a:r>
              <a:rPr sz="1400" b="1">
                <a:solidFill>
                  <a:srgbClr val="E7ECF2"/>
                </a:solidFill>
                <a:latin typeface="Arial"/>
              </a:rPr>
              <a:t>
So the paradigm demonstrably CAN reach general intelligence. We just haven't reproduced it. </a:t>
            </a:r>
            <a:r>
              <a:rPr sz="1400" b="0">
                <a:solidFill>
                  <a:srgbClr val="93A0AE"/>
                </a:solidFill>
                <a:latin typeface="Arial"/>
              </a:rPr>
              <a:t>That gap is the open frontier — and the reason to work on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07 · PROPOSED DIRECTIONS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08</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What I would work on</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Escape the firing floor with analog state</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Build an SSM whose recurrent state lives in sub-threshold analog dynamics, not spikes — test whether it breaks our bound's assumption and sparsifies like attention did.</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Predictive coding on neuromorphic silicon</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Implement an error-propagating hierarchy with local (EqProp) learning; measure real energy on Loihi 2 / SpiNNaker2 — turning the 45nm proxy into a measurement.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Quantify the floor–vs–wall trade-off</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Formalize the recurrence(firing floor) ↔ attention(memory wall) dichotomy as a conservation law; find the Pareto frontier and where analog-state models sit on it.</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Closed-loop world-model at the edge</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 predictive world-model + planning loop for a low-power embodied agent — where neuromorphic's real-time, event-driven physics is decisive.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972800" cy="274320"/>
          </a:xfrm>
          <a:prstGeom prst="rect">
            <a:avLst/>
          </a:prstGeom>
          <a:noFill/>
        </p:spPr>
        <p:txBody>
          <a:bodyPr wrap="square" anchor="t" lIns="0" rIns="0" tIns="0" bIns="0">
            <a:spAutoFit/>
          </a:bodyPr>
          <a:lstStyle/>
          <a:p>
            <a:pPr algn="l">
              <a:lnSpc>
                <a:spcPct val="105000"/>
              </a:lnSpc>
            </a:pPr>
            <a:r>
              <a:rPr sz="1150" b="1" spc="140">
                <a:solidFill>
                  <a:srgbClr val="9B8CFF"/>
                </a:solidFill>
                <a:latin typeface="Consolas"/>
              </a:rPr>
              <a:t>THESIS</a:t>
            </a:r>
          </a:p>
        </p:txBody>
      </p:sp>
      <p:sp>
        <p:nvSpPr>
          <p:cNvPr id="4" name="TextBox 3"/>
          <p:cNvSpPr txBox="1"/>
          <p:nvPr/>
        </p:nvSpPr>
        <p:spPr>
          <a:xfrm>
            <a:off x="786384" y="1828800"/>
            <a:ext cx="10424160" cy="2377440"/>
          </a:xfrm>
          <a:prstGeom prst="rect">
            <a:avLst/>
          </a:prstGeom>
          <a:noFill/>
        </p:spPr>
        <p:txBody>
          <a:bodyPr wrap="square" anchor="t" lIns="0" rIns="0" tIns="0" bIns="0">
            <a:spAutoFit/>
          </a:bodyPr>
          <a:lstStyle/>
          <a:p>
            <a:pPr algn="l">
              <a:lnSpc>
                <a:spcPct val="110000"/>
              </a:lnSpc>
            </a:pPr>
            <a:r>
              <a:rPr sz="3000" b="1">
                <a:solidFill>
                  <a:srgbClr val="E7ECF2"/>
                </a:solidFill>
                <a:latin typeface="Arial"/>
              </a:rPr>
              <a:t>Intelligence is a loop, not a lookup.
</a:t>
            </a:r>
            <a:r>
              <a:rPr sz="2000" b="1">
                <a:solidFill>
                  <a:srgbClr val="93A0AE"/>
                </a:solidFill>
                <a:latin typeface="Arial"/>
              </a:rPr>
              <a:t>If neuromorphic can't ride attention, it shouldn't — its physics aligns with the </a:t>
            </a:r>
            <a:r>
              <a:rPr sz="2000" b="1">
                <a:solidFill>
                  <a:srgbClr val="9B8CFF"/>
                </a:solidFill>
                <a:latin typeface="Arial"/>
              </a:rPr>
              <a:t>predictive, sparse, local, embodied</a:t>
            </a:r>
            <a:r>
              <a:rPr sz="2000" b="1">
                <a:solidFill>
                  <a:srgbClr val="93A0AE"/>
                </a:solidFill>
                <a:latin typeface="Arial"/>
              </a:rPr>
              <a:t> paradigm the brain already proves works at 20 W.</a:t>
            </a:r>
          </a:p>
        </p:txBody>
      </p:sp>
      <p:sp>
        <p:nvSpPr>
          <p:cNvPr id="5" name="TextBox 4"/>
          <p:cNvSpPr txBox="1"/>
          <p:nvPr/>
        </p:nvSpPr>
        <p:spPr>
          <a:xfrm>
            <a:off x="822960" y="4937760"/>
            <a:ext cx="10515600" cy="1097280"/>
          </a:xfrm>
          <a:prstGeom prst="rect">
            <a:avLst/>
          </a:prstGeom>
          <a:noFill/>
        </p:spPr>
        <p:txBody>
          <a:bodyPr wrap="square" anchor="t" lIns="0" rIns="0" tIns="0" bIns="0">
            <a:spAutoFit/>
          </a:bodyPr>
          <a:lstStyle/>
          <a:p>
            <a:pPr algn="l">
              <a:lnSpc>
                <a:spcPct val="130000"/>
              </a:lnSpc>
            </a:pPr>
            <a:r>
              <a:rPr sz="950" b="1">
                <a:solidFill>
                  <a:srgbClr val="9B8CFF"/>
                </a:solidFill>
                <a:latin typeface="Consolas"/>
              </a:rPr>
              <a:t>SOURCES  </a:t>
            </a:r>
            <a:r>
              <a:rPr sz="950" b="0">
                <a:solidFill>
                  <a:srgbClr val="667280"/>
                </a:solidFill>
                <a:latin typeface="Consolas"/>
              </a:rPr>
              <a:t>Predictive coding: Millidge+22, Salvatori/Song ICLR’24 (2506.06332) · EqProp: Scellier, EqSpike, 2606.03584 · SSM: Mamba, SpikingMamba 2510.04595, SpikySpace · JEPA: V-JEPA 2, LeJEPA · Hopfield: Ramsauer, 2411.08590 · Active inference: Friston, PMC12217590 · Sparsity Ceiling (this work, arXiv cs.NE)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