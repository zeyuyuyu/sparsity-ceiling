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spc="140">
                <a:solidFill>
                  <a:srgbClr val="25C6D2"/>
                </a:solidFill>
                <a:latin typeface="Consolas"/>
              </a:rPr>
              <a:t>RESEARCH DIRECTION · FROM AN EMPIRICAL RESULT TO A BET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78308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E7ECF2"/>
                </a:solidFill>
                <a:latin typeface="Arial"/>
              </a:rPr>
              <a:t>Beyond Attention</a:t>
            </a:r>
            <a:r>
              <a:rPr sz="4000" b="1">
                <a:solidFill>
                  <a:srgbClr val="93A0AE"/>
                </a:solidFill>
                <a:latin typeface="Arial"/>
              </a:rPr>
              <a:t>:</a:t>
            </a:r>
            <a:r>
              <a:rPr sz="4000" b="1">
                <a:solidFill>
                  <a:srgbClr val="E7ECF2"/>
                </a:solidFill>
                <a:latin typeface="Arial"/>
              </a:rPr>
              <a:t>
what paradigm of intelligence can</a:t>
            </a:r>
            <a:r>
              <a:rPr sz="4000" b="1">
                <a:solidFill>
                  <a:srgbClr val="25C6D2"/>
                </a:solidFill>
                <a:latin typeface="Arial"/>
              </a:rPr>
              <a:t>
neuromorphic hardware actually ride?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93A0AE"/>
                </a:solidFill>
                <a:latin typeface="Arial"/>
              </a:rPr>
              <a:t>If spiking hardware cannot ride the Transformer paradigm, what CAN it ride? </a:t>
            </a:r>
            <a:r>
              <a:rPr sz="1600" b="1">
                <a:solidFill>
                  <a:srgbClr val="E7ECF2"/>
                </a:solidFill>
                <a:latin typeface="Arial"/>
              </a:rPr>
              <a:t>A map of six non-attention paradigms, and where I'd place the bet.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67280"/>
                </a:solidFill>
                <a:latin typeface="Consolas"/>
              </a:rPr>
              <a:t>Zeyu Wang   ·   builds on “The Sparsity Ceiling” (arXiv, cs.NE)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spc="140">
                <a:solidFill>
                  <a:srgbClr val="25C6D2"/>
                </a:solidFill>
                <a:latin typeface="Consolas"/>
              </a:rPr>
              <a:t>01 ·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spc="110">
                <a:solidFill>
                  <a:srgbClr val="667280"/>
                </a:solidFill>
                <a:latin typeface="Consolas"/>
              </a:rPr>
              <a:t>BEYOND ATTENTION · NEUROMORPHIC INTELLIGENCE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67280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7ECF2"/>
                </a:solidFill>
                <a:latin typeface="Arial"/>
              </a:rPr>
              <a:t>What is the “point” of intelligence — and is attention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583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93A0AE"/>
                </a:solidFill>
                <a:latin typeface="Arial"/>
              </a:rPr>
              <a:t>A working answer: intelligence is </a:t>
            </a:r>
            <a:r>
              <a:rPr sz="1550" b="1">
                <a:solidFill>
                  <a:srgbClr val="E7ECF2"/>
                </a:solidFill>
                <a:latin typeface="Arial"/>
              </a:rPr>
              <a:t>a predictive generative model of the world, maintained in persistent dynamics, spending compute only on surprise, and acting to test its predictions.</a:t>
            </a:r>
            <a:r>
              <a:rPr sz="1550" b="0">
                <a:solidFill>
                  <a:srgbClr val="93A0AE"/>
                </a:solidFill>
                <a:latin typeface="Arial"/>
              </a:rPr>
              <a:t>
It is a </a:t>
            </a:r>
            <a:r>
              <a:rPr sz="1550" b="1">
                <a:solidFill>
                  <a:srgbClr val="25C6D2"/>
                </a:solidFill>
                <a:latin typeface="Arial"/>
              </a:rPr>
              <a:t>loop</a:t>
            </a:r>
            <a:r>
              <a:rPr sz="1550" b="0">
                <a:solidFill>
                  <a:srgbClr val="93A0AE"/>
                </a:solidFill>
                <a:latin typeface="Arial"/>
              </a:rPr>
              <a:t> (model ⇄ world), not a </a:t>
            </a:r>
            <a:r>
              <a:rPr sz="1550" b="1">
                <a:solidFill>
                  <a:srgbClr val="E0A05A"/>
                </a:solidFill>
                <a:latin typeface="Arial"/>
              </a:rPr>
              <a:t>function</a:t>
            </a:r>
            <a:r>
              <a:rPr sz="1550" b="0">
                <a:solidFill>
                  <a:srgbClr val="93A0AE"/>
                </a:solidFill>
                <a:latin typeface="Arial"/>
              </a:rPr>
              <a:t> (context → token).
Transformers reach intelligence the opposite way: </a:t>
            </a:r>
            <a:r>
              <a:rPr sz="1550" b="0">
                <a:solidFill>
                  <a:srgbClr val="E7ECF2"/>
                </a:solidFill>
                <a:latin typeface="Arial"/>
              </a:rPr>
              <a:t>stateless, dense retrieval over the whole context, at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600200"/>
            <a:ext cx="4160520" cy="3566160"/>
          </a:xfrm>
          <a:prstGeom prst="roundRect">
            <a:avLst>
              <a:gd name="adj" fmla="val 8000"/>
            </a:avLst>
          </a:prstGeom>
          <a:solidFill>
            <a:srgbClr val="161C24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600200"/>
            <a:ext cx="54864" cy="3566160"/>
          </a:xfrm>
          <a:prstGeom prst="rect">
            <a:avLst/>
          </a:prstGeom>
          <a:solidFill>
            <a:srgbClr val="F06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874519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spc="80">
                <a:solidFill>
                  <a:srgbClr val="F06A5F"/>
                </a:solidFill>
                <a:latin typeface="Consolas"/>
              </a:rPr>
              <a:t>THE EMPIRICAL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28600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E7ECF2"/>
                </a:solidFill>
                <a:latin typeface="Arial"/>
              </a:rPr>
              <a:t>Our result — the sparsity ceiling: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3464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25C6D2"/>
                </a:solidFill>
                <a:latin typeface="Consolas"/>
              </a:rPr>
              <a:t>Recurrence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90672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3A0AE"/>
                </a:solidFill>
                <a:latin typeface="Arial"/>
              </a:rPr>
              <a:t>hits a firing floor (~50%)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61188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25C6D2"/>
                </a:solidFill>
                <a:latin typeface="Consolas"/>
              </a:rPr>
              <a:t>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867912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3A0AE"/>
                </a:solidFill>
                <a:latin typeface="Arial"/>
              </a:rPr>
              <a:t>sparsifies, but O(context) KV = memory wall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38912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25C6D2"/>
                </a:solidFill>
                <a:latin typeface="Consolas"/>
              </a:rPr>
              <a:t>Verdict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645152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3A0AE"/>
                </a:solidFill>
                <a:latin typeface="Arial"/>
              </a:rPr>
              <a:t>the Transformer route is hardware-mismatched to neuromorphic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spc="140">
                <a:solidFill>
                  <a:srgbClr val="25C6D2"/>
                </a:solidFill>
                <a:latin typeface="Consolas"/>
              </a:rPr>
              <a:t>02 · TWO PARADIGMS OF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spc="110">
                <a:solidFill>
                  <a:srgbClr val="667280"/>
                </a:solidFill>
                <a:latin typeface="Consolas"/>
              </a:rPr>
              <a:t>BEYOND ATTENTION · NEUROMORPHIC INTELLIGENCE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67280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F2"/>
                </a:solidFill>
                <a:latin typeface="Arial"/>
              </a:rPr>
              <a:t>They are opposites — and only one fits 20-watt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solidFill>
            <a:srgbClr val="1F2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600200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spc="50">
                <a:solidFill>
                  <a:srgbClr val="93A0AE"/>
                </a:solidFill>
                <a:latin typeface="Consolas"/>
              </a:rPr>
              <a:t>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9856" y="1600200"/>
            <a:ext cx="3950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spc="50">
                <a:solidFill>
                  <a:srgbClr val="E0A05A"/>
                </a:solidFill>
                <a:latin typeface="Consolas"/>
              </a:rPr>
              <a:t>TRANSFORMER PARADIGM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6096" y="1600200"/>
            <a:ext cx="3886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spc="50">
                <a:solidFill>
                  <a:srgbClr val="25C6D2"/>
                </a:solidFill>
                <a:latin typeface="Consolas"/>
              </a:rPr>
              <a:t>BRAIN PARADIGM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11091672" cy="603504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48640" y="2057400"/>
            <a:ext cx="11091672" cy="0"/>
          </a:xfrm>
          <a:prstGeom prst="line">
            <a:avLst/>
          </a:prstGeom>
          <a:ln w="9525">
            <a:solidFill>
              <a:srgbClr val="2A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6656" y="2057400"/>
            <a:ext cx="248716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7ECF2"/>
                </a:solidFill>
                <a:latin typeface="Arial"/>
              </a:rP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057400"/>
            <a:ext cx="39502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0A05A"/>
                </a:solidFill>
                <a:latin typeface="Arial"/>
              </a:rPr>
              <a:t>stateless · re-reads full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6096" y="2057400"/>
            <a:ext cx="3886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C6D2"/>
                </a:solidFill>
                <a:latin typeface="Arial"/>
              </a:rPr>
              <a:t>persistent recurrent dynamics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60904"/>
            <a:ext cx="11091672" cy="603504"/>
          </a:xfrm>
          <a:prstGeom prst="rect">
            <a:avLst/>
          </a:prstGeom>
          <a:solidFill>
            <a:srgbClr val="0C1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48640" y="2660904"/>
            <a:ext cx="11091672" cy="0"/>
          </a:xfrm>
          <a:prstGeom prst="line">
            <a:avLst/>
          </a:prstGeom>
          <a:ln w="9525">
            <a:solidFill>
              <a:srgbClr val="2A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6656" y="2660904"/>
            <a:ext cx="248716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7ECF2"/>
                </a:solidFill>
                <a:latin typeface="Arial"/>
              </a:rPr>
              <a:t>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660904"/>
            <a:ext cx="39502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0A05A"/>
                </a:solidFill>
                <a:latin typeface="Arial"/>
              </a:rPr>
              <a:t>external KV cache (grows with context)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2660904"/>
            <a:ext cx="3886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C6D2"/>
                </a:solidFill>
                <a:latin typeface="Arial"/>
              </a:rPr>
              <a:t>compressed into state + synapses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64408"/>
            <a:ext cx="11091672" cy="603504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48640" y="3264408"/>
            <a:ext cx="11091672" cy="0"/>
          </a:xfrm>
          <a:prstGeom prst="line">
            <a:avLst/>
          </a:prstGeom>
          <a:ln w="9525">
            <a:solidFill>
              <a:srgbClr val="2A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6656" y="3264408"/>
            <a:ext cx="248716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7ECF2"/>
                </a:solidFill>
                <a:latin typeface="Arial"/>
              </a:rPr>
              <a:t>Compute spent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3264408"/>
            <a:ext cx="39502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0A05A"/>
                </a:solidFill>
                <a:latin typeface="Arial"/>
              </a:rPr>
              <a:t>dense all-pairs retrieval (QKᵀ)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3264408"/>
            <a:ext cx="3886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C6D2"/>
                </a:solidFill>
                <a:latin typeface="Arial"/>
              </a:rPr>
              <a:t>only prediction error (surprise)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67912"/>
            <a:ext cx="11091672" cy="603504"/>
          </a:xfrm>
          <a:prstGeom prst="rect">
            <a:avLst/>
          </a:prstGeom>
          <a:solidFill>
            <a:srgbClr val="0C1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48640" y="3867912"/>
            <a:ext cx="11091672" cy="0"/>
          </a:xfrm>
          <a:prstGeom prst="line">
            <a:avLst/>
          </a:prstGeom>
          <a:ln w="9525">
            <a:solidFill>
              <a:srgbClr val="2A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6" y="3867912"/>
            <a:ext cx="248716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7ECF2"/>
                </a:solidFill>
                <a:latin typeface="Arial"/>
              </a:rPr>
              <a:t>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9856" y="3867912"/>
            <a:ext cx="39502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0A05A"/>
                </a:solidFill>
                <a:latin typeface="Arial"/>
              </a:rPr>
              <a:t>offline · global backprop · huge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3867912"/>
            <a:ext cx="3886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C6D2"/>
                </a:solidFill>
                <a:latin typeface="Arial"/>
              </a:rPr>
              <a:t>online · local plasticity · continual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71416"/>
            <a:ext cx="11091672" cy="603504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48640" y="4471416"/>
            <a:ext cx="11091672" cy="0"/>
          </a:xfrm>
          <a:prstGeom prst="line">
            <a:avLst/>
          </a:prstGeom>
          <a:ln w="9525">
            <a:solidFill>
              <a:srgbClr val="2A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76656" y="4471416"/>
            <a:ext cx="248716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7ECF2"/>
                </a:solidFill>
                <a:latin typeface="Arial"/>
              </a:rPr>
              <a:t>Source of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9856" y="4471416"/>
            <a:ext cx="39502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0A05A"/>
                </a:solidFill>
                <a:latin typeface="Arial"/>
              </a:rPr>
              <a:t>scale + retrieval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6096" y="4471416"/>
            <a:ext cx="3886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C6D2"/>
                </a:solidFill>
                <a:latin typeface="Arial"/>
              </a:rPr>
              <a:t>prediction + compression + 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074920"/>
            <a:ext cx="11091672" cy="603504"/>
          </a:xfrm>
          <a:prstGeom prst="rect">
            <a:avLst/>
          </a:prstGeom>
          <a:solidFill>
            <a:srgbClr val="0C1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48640" y="5074920"/>
            <a:ext cx="11091672" cy="0"/>
          </a:xfrm>
          <a:prstGeom prst="line">
            <a:avLst/>
          </a:prstGeom>
          <a:ln w="9525">
            <a:solidFill>
              <a:srgbClr val="2A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6656" y="5074920"/>
            <a:ext cx="248716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7ECF2"/>
                </a:solidFill>
                <a:latin typeface="Arial"/>
              </a:rPr>
              <a:t>Cost on neuromorphic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9856" y="5074920"/>
            <a:ext cx="39502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0A05A"/>
                </a:solidFill>
                <a:latin typeface="Arial"/>
              </a:rPr>
              <a:t>memory wall / dense MACs 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5074920"/>
            <a:ext cx="3886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C6D2"/>
                </a:solidFill>
                <a:latin typeface="Arial"/>
              </a:rPr>
              <a:t>event-driven, analog, local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spc="140">
                <a:solidFill>
                  <a:srgbClr val="25C6D2"/>
                </a:solidFill>
                <a:latin typeface="Consolas"/>
              </a:rPr>
              <a:t>03 · WHY THE BRAIN PAYS NEITHER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spc="110">
                <a:solidFill>
                  <a:srgbClr val="667280"/>
                </a:solidFill>
                <a:latin typeface="Consolas"/>
              </a:rPr>
              <a:t>BEYOND ATTENTION · NEUROMORPHIC INTELLIGENCE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67280"/>
                </a:solidFill>
                <a:latin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F2"/>
                </a:solidFill>
                <a:latin typeface="Arial"/>
              </a:rPr>
              <a:t>The brain violates the assumption behind our own 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3A0AE"/>
                </a:solidFill>
                <a:latin typeface="Arial"/>
              </a:rPr>
              <a:t>Our firing-floor bound  </a:t>
            </a:r>
            <a:r>
              <a:rPr sz="1500" b="1">
                <a:solidFill>
                  <a:srgbClr val="25C6D2"/>
                </a:solidFill>
                <a:latin typeface="Consolas"/>
              </a:rPr>
              <a:t>ρ ≥ Hᵇ⁻¹(log₂M / H)  </a:t>
            </a:r>
            <a:r>
              <a:rPr sz="1500" b="0">
                <a:solidFill>
                  <a:srgbClr val="93A0AE"/>
                </a:solidFill>
                <a:latin typeface="Arial"/>
              </a:rPr>
              <a:t>assumes information travels </a:t>
            </a:r>
            <a:r>
              <a:rPr sz="1500" b="1">
                <a:solidFill>
                  <a:srgbClr val="E7ECF2"/>
                </a:solidFill>
                <a:latin typeface="Arial"/>
              </a:rPr>
              <a:t>only in spikes</a:t>
            </a:r>
            <a:r>
              <a:rPr sz="1500" b="0">
                <a:solidFill>
                  <a:srgbClr val="93A0AE"/>
                </a:solidFill>
                <a:latin typeface="Arial"/>
              </a:rPr>
              <a:t>. The brain breaks exactly that assumption — three ways: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3566160" cy="3063240"/>
          </a:xfrm>
          <a:prstGeom prst="roundRect">
            <a:avLst>
              <a:gd name="adj" fmla="val 8000"/>
            </a:avLst>
          </a:prstGeom>
          <a:solidFill>
            <a:srgbClr val="161C24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60904"/>
            <a:ext cx="45720" cy="2770632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30632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1">
                <a:solidFill>
                  <a:srgbClr val="E7ECF2"/>
                </a:solidFill>
                <a:latin typeface="Arial"/>
              </a:rPr>
              <a:t>Analog state, spikes for surprise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57600"/>
            <a:ext cx="30358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3A0AE"/>
                </a:solidFill>
                <a:latin typeface="Arial"/>
              </a:rPr>
              <a:t>Memory lives in sub-threshold membrane + short-term synaptic state (activity-silent). Spikes signal only errors → escapes the firing floor AND the KV memory wall.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1" y="2514600"/>
            <a:ext cx="3566160" cy="3063240"/>
          </a:xfrm>
          <a:prstGeom prst="roundRect">
            <a:avLst>
              <a:gd name="adj" fmla="val 8000"/>
            </a:avLst>
          </a:prstGeom>
          <a:solidFill>
            <a:srgbClr val="161C24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1" y="2660904"/>
            <a:ext cx="45720" cy="2770632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2788920"/>
            <a:ext cx="30632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1">
                <a:solidFill>
                  <a:srgbClr val="E7ECF2"/>
                </a:solidFill>
                <a:latin typeface="Arial"/>
              </a:rPr>
              <a:t>Enormous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3657600"/>
            <a:ext cx="30358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3A0AE"/>
                </a:solidFill>
                <a:latin typeface="Arial"/>
              </a:rPr>
              <a:t>10¹¹ neurons → log₂M / H ≈ 0 → ρ_min → 0. Sparse distributed coding is nearly free in high dimension.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3" y="2514600"/>
            <a:ext cx="3566160" cy="3063240"/>
          </a:xfrm>
          <a:prstGeom prst="roundRect">
            <a:avLst>
              <a:gd name="adj" fmla="val 8000"/>
            </a:avLst>
          </a:prstGeom>
          <a:solidFill>
            <a:srgbClr val="161C24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3" y="2660904"/>
            <a:ext cx="45720" cy="2770632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2788920"/>
            <a:ext cx="30632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1">
                <a:solidFill>
                  <a:srgbClr val="E7ECF2"/>
                </a:solidFill>
                <a:latin typeface="Arial"/>
              </a:rPr>
              <a:t>Local, multi-timescale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657600"/>
            <a:ext cx="30358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3A0AE"/>
                </a:solidFill>
                <a:latin typeface="Arial"/>
              </a:rPr>
              <a:t>Fast spikes / slow synapses / neuromodulation; local plasticity, continual — no backprop through all of history.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3A0AE"/>
                </a:solidFill>
                <a:latin typeface="Arial"/>
              </a:rPr>
              <a:t>⇒ The brain is the </a:t>
            </a:r>
            <a:r>
              <a:rPr sz="1300" b="1">
                <a:solidFill>
                  <a:srgbClr val="9B8CFF"/>
                </a:solidFill>
                <a:latin typeface="Arial"/>
              </a:rPr>
              <a:t>existence proof</a:t>
            </a:r>
            <a:r>
              <a:rPr sz="1300" b="0">
                <a:solidFill>
                  <a:srgbClr val="E7ECF2"/>
                </a:solidFill>
                <a:latin typeface="Arial"/>
              </a:rPr>
              <a:t>: general intelligence at 20 W, ~1000× more efficient than GPUs — via prediction + sparsity + locality, not attention.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spc="140">
                <a:solidFill>
                  <a:srgbClr val="25C6D2"/>
                </a:solidFill>
                <a:latin typeface="Consolas"/>
              </a:rPr>
              <a:t>04 · THE LANDSCAPE OF NON-ATTENTION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spc="110">
                <a:solidFill>
                  <a:srgbClr val="667280"/>
                </a:solidFill>
                <a:latin typeface="Consolas"/>
              </a:rPr>
              <a:t>BEYOND ATTENTION · NEUROMORPHIC INTELLIGENCE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67280"/>
                </a:solidFill>
                <a:latin typeface="Consola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E7ECF2"/>
                </a:solidFill>
                <a:latin typeface="Arial"/>
              </a:rPr>
              <a:t>Six paradigms that reach intelligence without dense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420624"/>
          </a:xfrm>
          <a:prstGeom prst="rect">
            <a:avLst/>
          </a:prstGeom>
          <a:solidFill>
            <a:srgbClr val="1F2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21488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spc="40">
                <a:solidFill>
                  <a:srgbClr val="93A0AE"/>
                </a:solidFill>
                <a:latin typeface="Consolas"/>
              </a:rPr>
              <a:t>PARADIGM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088" y="1417320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spc="40">
                <a:solidFill>
                  <a:srgbClr val="93A0AE"/>
                </a:solidFill>
                <a:latin typeface="Consolas"/>
              </a:rPr>
              <a:t>CORE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2088" y="1417320"/>
            <a:ext cx="45719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spc="40">
                <a:solidFill>
                  <a:srgbClr val="93A0AE"/>
                </a:solidFill>
                <a:latin typeface="Consolas"/>
              </a:rPr>
              <a:t>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7" y="1417320"/>
            <a:ext cx="33649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spc="40">
                <a:solidFill>
                  <a:srgbClr val="93A0AE"/>
                </a:solidFill>
                <a:latin typeface="Consolas"/>
              </a:rPr>
              <a:t>REPRESENTATIVE WORK (2024–26)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37944"/>
            <a:ext cx="11091672" cy="713232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48640" y="1837944"/>
            <a:ext cx="11091672" cy="0"/>
          </a:xfrm>
          <a:prstGeom prst="line">
            <a:avLst/>
          </a:prstGeom>
          <a:ln w="7620">
            <a:solidFill>
              <a:srgbClr val="2A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1837944"/>
            <a:ext cx="214883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5C6D2"/>
                </a:solidFill>
                <a:latin typeface="Arial"/>
              </a:rPr>
              <a:t>Predictive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1837944"/>
            <a:ext cx="4389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0AE"/>
                </a:solidFill>
                <a:latin typeface="Arial"/>
              </a:rPr>
              <a:t>hierarchical generative model; propagate only errors; local ≈ backprop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1837944"/>
            <a:ext cx="45719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48B877"/>
                </a:solidFill>
                <a:latin typeface="Consolas"/>
              </a:rPr>
              <a:t>✓✓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7" y="1837944"/>
            <a:ext cx="336499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67280"/>
                </a:solidFill>
                <a:latin typeface="Consolas"/>
              </a:rPr>
              <a:t>Millidge+22; Salvatori/Song ICLR’24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51176"/>
            <a:ext cx="11091672" cy="713232"/>
          </a:xfrm>
          <a:prstGeom prst="rect">
            <a:avLst/>
          </a:prstGeom>
          <a:solidFill>
            <a:srgbClr val="0C1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48640" y="2551176"/>
            <a:ext cx="11091672" cy="0"/>
          </a:xfrm>
          <a:prstGeom prst="line">
            <a:avLst/>
          </a:prstGeom>
          <a:ln w="7620">
            <a:solidFill>
              <a:srgbClr val="2A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2551176"/>
            <a:ext cx="214883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5C6D2"/>
                </a:solidFill>
                <a:latin typeface="Arial"/>
              </a:rPr>
              <a:t>Equilibrium propagation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2551176"/>
            <a:ext cx="4389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0AE"/>
                </a:solidFill>
                <a:latin typeface="Arial"/>
              </a:rPr>
              <a:t>relax to energy minimum; local weight updates; analog-native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551176"/>
            <a:ext cx="45719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48B877"/>
                </a:solidFill>
                <a:latin typeface="Consolas"/>
              </a:rPr>
              <a:t>✓✓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7" y="2551176"/>
            <a:ext cx="336499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67280"/>
                </a:solidFill>
                <a:latin typeface="Consolas"/>
              </a:rPr>
              <a:t>EqSpike; ImageNet-EP ’26; −10⁴ train energy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64408"/>
            <a:ext cx="11091672" cy="713232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48640" y="3264408"/>
            <a:ext cx="11091672" cy="0"/>
          </a:xfrm>
          <a:prstGeom prst="line">
            <a:avLst/>
          </a:prstGeom>
          <a:ln w="7620">
            <a:solidFill>
              <a:srgbClr val="2A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264408"/>
            <a:ext cx="214883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5C6D2"/>
                </a:solidFill>
                <a:latin typeface="Arial"/>
              </a:rPr>
              <a:t>Analog / spiking SSM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8" y="3264408"/>
            <a:ext cx="4389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0AE"/>
                </a:solidFill>
                <a:latin typeface="Arial"/>
              </a:rPr>
              <a:t>linear recurrence, no KV cache, O(L); state in analog dynamics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3264408"/>
            <a:ext cx="45719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48B877"/>
                </a:solidFill>
                <a:latin typeface="Consolas"/>
              </a:rPr>
              <a:t>✓✓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7" y="3264408"/>
            <a:ext cx="336499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67280"/>
                </a:solidFill>
                <a:latin typeface="Consolas"/>
              </a:rPr>
              <a:t>Mamba; SpikingMamba; SpikySpace ’26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77639"/>
            <a:ext cx="11091672" cy="713232"/>
          </a:xfrm>
          <a:prstGeom prst="rect">
            <a:avLst/>
          </a:prstGeom>
          <a:solidFill>
            <a:srgbClr val="0C1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48640" y="3977639"/>
            <a:ext cx="11091672" cy="0"/>
          </a:xfrm>
          <a:prstGeom prst="line">
            <a:avLst/>
          </a:prstGeom>
          <a:ln w="7620">
            <a:solidFill>
              <a:srgbClr val="2A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3977639"/>
            <a:ext cx="214883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5C6D2"/>
                </a:solidFill>
                <a:latin typeface="Arial"/>
              </a:rPr>
              <a:t>World models / JEPA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0088" y="3977639"/>
            <a:ext cx="4389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0AE"/>
                </a:solidFill>
                <a:latin typeface="Arial"/>
              </a:rPr>
              <a:t>predict in latent space (not tokens/pixels); plan by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2088" y="3977639"/>
            <a:ext cx="45719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48B877"/>
                </a:solidFill>
                <a:latin typeface="Consola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7" y="3977639"/>
            <a:ext cx="336499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67280"/>
                </a:solidFill>
                <a:latin typeface="Consolas"/>
              </a:rPr>
              <a:t>LeCun V-JEPA 2; LeJEPA ’25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90872"/>
            <a:ext cx="11091672" cy="713232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48640" y="4690872"/>
            <a:ext cx="11091672" cy="0"/>
          </a:xfrm>
          <a:prstGeom prst="line">
            <a:avLst/>
          </a:prstGeom>
          <a:ln w="7620">
            <a:solidFill>
              <a:srgbClr val="2A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4690872"/>
            <a:ext cx="214883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5C6D2"/>
                </a:solidFill>
                <a:latin typeface="Arial"/>
              </a:rPr>
              <a:t>Associative / Hopfield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0088" y="4690872"/>
            <a:ext cx="4389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0AE"/>
                </a:solidFill>
                <a:latin typeface="Arial"/>
              </a:rPr>
              <a:t>content-addressable attractor retrieval = attention as dynamics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62088" y="4690872"/>
            <a:ext cx="45719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48B877"/>
                </a:solidFill>
                <a:latin typeface="Consola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2167" y="4690872"/>
            <a:ext cx="336499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67280"/>
                </a:solidFill>
                <a:latin typeface="Consolas"/>
              </a:rPr>
              <a:t>Ramsauer; Hopfield–Fenchel–Young ’24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404104"/>
            <a:ext cx="11091672" cy="713232"/>
          </a:xfrm>
          <a:prstGeom prst="rect">
            <a:avLst/>
          </a:prstGeom>
          <a:solidFill>
            <a:srgbClr val="0C1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548640" y="5404104"/>
            <a:ext cx="11091672" cy="0"/>
          </a:xfrm>
          <a:prstGeom prst="line">
            <a:avLst/>
          </a:prstGeom>
          <a:ln w="7620">
            <a:solidFill>
              <a:srgbClr val="2A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" y="5404104"/>
            <a:ext cx="214883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5C6D2"/>
                </a:solidFill>
                <a:latin typeface="Arial"/>
              </a:rPr>
              <a:t>Active inference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90088" y="5404104"/>
            <a:ext cx="4389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0AE"/>
                </a:solidFill>
                <a:latin typeface="Arial"/>
              </a:rPr>
              <a:t>minimize expected surprise; perception–action loop; embodied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2088" y="5404104"/>
            <a:ext cx="45719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48B877"/>
                </a:solidFill>
                <a:latin typeface="Consola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02167" y="5404104"/>
            <a:ext cx="336499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67280"/>
                </a:solidFill>
                <a:latin typeface="Consolas"/>
              </a:rPr>
              <a:t>Friston; scale-free active inference ’25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22706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67280"/>
                </a:solidFill>
                <a:latin typeface="Consolas"/>
              </a:rPr>
              <a:t>✓✓ = neuromorphic physics is an advantage (analog, event-driven, local)   ·   ✓ = algorithmic fit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spc="140">
                <a:solidFill>
                  <a:srgbClr val="25C6D2"/>
                </a:solidFill>
                <a:latin typeface="Consolas"/>
              </a:rPr>
              <a:t>05 · THE BET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spc="110">
                <a:solidFill>
                  <a:srgbClr val="667280"/>
                </a:solidFill>
                <a:latin typeface="Consolas"/>
              </a:rPr>
              <a:t>BEYOND ATTENTION · NEUROMORPHIC INTELLIGENCE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67280"/>
                </a:solidFill>
                <a:latin typeface="Consola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F2"/>
                </a:solidFill>
                <a:latin typeface="Arial"/>
              </a:rPr>
              <a:t>Where I would place neuromorphic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102A2C"/>
          </a:solidFill>
          <a:ln w="15875">
            <a:solidFill>
              <a:srgbClr val="25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7ECF2"/>
                </a:solidFill>
                <a:latin typeface="Arial"/>
              </a:rPr>
              <a:t>A predictive world-model held in analog recurrent dynamics,
</a:t>
            </a:r>
            <a:r>
              <a:rPr sz="1400" b="0">
                <a:solidFill>
                  <a:srgbClr val="93A0AE"/>
                </a:solidFill>
                <a:latin typeface="Arial"/>
              </a:rPr>
              <a:t>learned locally &amp; online (predictive coding / equilibrium propagation), acting in a closed loop — spikes carry only surprise.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7ECF2"/>
                </a:solidFill>
                <a:latin typeface="Arial"/>
              </a:rPr>
              <a:t>Why this is not “settling” — the hardware–paradigm alignment: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86200"/>
            <a:ext cx="146304" cy="146304"/>
          </a:xfrm>
          <a:prstGeom prst="rect">
            <a:avLst/>
          </a:prstGeom>
          <a:solidFill>
            <a:srgbClr val="25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7ECF2"/>
                </a:solidFill>
                <a:latin typeface="Arial"/>
              </a:rPr>
              <a:t>Analog state escapes both traps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84048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0AE"/>
                </a:solidFill>
                <a:latin typeface="Arial"/>
              </a:rPr>
              <a:t>memory in membranes/synapses, not a KV cache → no memory wall, no firing floor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146304" cy="146304"/>
          </a:xfrm>
          <a:prstGeom prst="rect">
            <a:avLst/>
          </a:prstGeom>
          <a:solidFill>
            <a:srgbClr val="25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7ECF2"/>
                </a:solidFill>
                <a:latin typeface="Arial"/>
              </a:rPr>
              <a:t>Event-driven = compute only on surprise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52628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0AE"/>
                </a:solidFill>
                <a:latin typeface="Arial"/>
              </a:rPr>
              <a:t>predictive coding's error-only propagation IS event-driven — native to spiking silicon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25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7ECF2"/>
                </a:solidFill>
                <a:latin typeface="Arial"/>
              </a:rPr>
              <a:t>Local plasticity = on-chip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21208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0AE"/>
                </a:solidFill>
                <a:latin typeface="Arial"/>
              </a:rPr>
              <a:t>EqProp/PC learn with local rules → training without global backprop, ~10⁴ less energy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943600"/>
            <a:ext cx="146304" cy="146304"/>
          </a:xfrm>
          <a:prstGeom prst="rect">
            <a:avLst/>
          </a:prstGeom>
          <a:solidFill>
            <a:srgbClr val="25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7ECF2"/>
                </a:solidFill>
                <a:latin typeface="Arial"/>
              </a:rPr>
              <a:t>Recurrence + search =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89788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0AE"/>
                </a:solidFill>
                <a:latin typeface="Arial"/>
              </a:rPr>
              <a:t>test-time compute via iterated simulation/planning, not a giant single forward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spc="140">
                <a:solidFill>
                  <a:srgbClr val="E0A05A"/>
                </a:solidFill>
                <a:latin typeface="Consolas"/>
              </a:rPr>
              <a:t>06 · HONEST FRONTIER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spc="110">
                <a:solidFill>
                  <a:srgbClr val="667280"/>
                </a:solidFill>
                <a:latin typeface="Consolas"/>
              </a:rPr>
              <a:t>BEYOND ATTENTION · NEUROMORPHIC INTELLIGENCE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67280"/>
                </a:solidFill>
                <a:latin typeface="Consola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F2"/>
                </a:solidFill>
                <a:latin typeface="Arial"/>
              </a:rPr>
              <a:t>The uncomfortable truth — and why it's still the right bet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86400" cy="3931920"/>
          </a:xfrm>
          <a:prstGeom prst="roundRect">
            <a:avLst>
              <a:gd name="adj" fmla="val 8000"/>
            </a:avLst>
          </a:prstGeom>
          <a:solidFill>
            <a:srgbClr val="161C24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spc="60">
                <a:solidFill>
                  <a:srgbClr val="F06A5F"/>
                </a:solidFill>
                <a:latin typeface="Consolas"/>
              </a:rPr>
              <a:t>NONE HAS BEATEN TRANSFORMERS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834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3A0AE"/>
                </a:solidFill>
                <a:latin typeface="Arial"/>
              </a:rPr>
              <a:t>Predictive coding, EqProp, SSMs, Hopfield, JEPA, active inference — all promising, all more brain-like, </a:t>
            </a:r>
            <a:r>
              <a:rPr sz="1400" b="1">
                <a:solidFill>
                  <a:srgbClr val="E7ECF2"/>
                </a:solidFill>
                <a:latin typeface="Arial"/>
              </a:rPr>
              <a:t>none has yet produced GPT-class general capability.</a:t>
            </a:r>
            <a:r>
              <a:rPr sz="1400" b="0">
                <a:solidFill>
                  <a:srgbClr val="93A0AE"/>
                </a:solidFill>
                <a:latin typeface="Arial"/>
              </a:rPr>
              <a:t>
This is a research bet, not a solved alternative. It should be stated as such.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349240" cy="3931920"/>
          </a:xfrm>
          <a:prstGeom prst="roundRect">
            <a:avLst>
              <a:gd name="adj" fmla="val 8000"/>
            </a:avLst>
          </a:prstGeom>
          <a:solidFill>
            <a:srgbClr val="161C24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4864" cy="393192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spc="60">
                <a:solidFill>
                  <a:srgbClr val="9B8CFF"/>
                </a:solidFill>
                <a:latin typeface="Consolas"/>
              </a:rPr>
              <a:t>BUT THERE IS AN EXISTENCE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48463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3A0AE"/>
                </a:solidFill>
                <a:latin typeface="Arial"/>
              </a:rPr>
              <a:t>The brain runs general intelligence on </a:t>
            </a:r>
            <a:r>
              <a:rPr sz="1400" b="1">
                <a:solidFill>
                  <a:srgbClr val="9B8CFF"/>
                </a:solidFill>
                <a:latin typeface="Arial"/>
              </a:rPr>
              <a:t>20 watts</a:t>
            </a:r>
            <a:r>
              <a:rPr sz="1400" b="0">
                <a:solidFill>
                  <a:srgbClr val="93A0AE"/>
                </a:solidFill>
                <a:latin typeface="Arial"/>
              </a:rPr>
              <a:t>, ~1000× more efficient than GPUs — using exactly this paradigm: prediction, sparsity, locality, embodiment.</a:t>
            </a:r>
            <a:r>
              <a:rPr sz="1400" b="1">
                <a:solidFill>
                  <a:srgbClr val="E7ECF2"/>
                </a:solidFill>
                <a:latin typeface="Arial"/>
              </a:rPr>
              <a:t>
So the paradigm demonstrably CAN reach general intelligence. We just haven't reproduced it. </a:t>
            </a:r>
            <a:r>
              <a:rPr sz="1400" b="0">
                <a:solidFill>
                  <a:srgbClr val="93A0AE"/>
                </a:solidFill>
                <a:latin typeface="Arial"/>
              </a:rPr>
              <a:t>That gap is the open frontier — and the reason to work on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spc="140">
                <a:solidFill>
                  <a:srgbClr val="25C6D2"/>
                </a:solidFill>
                <a:latin typeface="Consolas"/>
              </a:rPr>
              <a:t>07 · PROPOSED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spc="110">
                <a:solidFill>
                  <a:srgbClr val="667280"/>
                </a:solidFill>
                <a:latin typeface="Consolas"/>
              </a:rPr>
              <a:t>BEYOND ATTENTION · NEUROMORPHIC INTELLIGENCE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67280"/>
                </a:solidFill>
                <a:latin typeface="Consola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F2"/>
                </a:solidFill>
                <a:latin typeface="Arial"/>
              </a:rPr>
              <a:t>What I would work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40680" cy="1691640"/>
          </a:xfrm>
          <a:prstGeom prst="roundRect">
            <a:avLst>
              <a:gd name="adj" fmla="val 8000"/>
            </a:avLst>
          </a:prstGeom>
          <a:solidFill>
            <a:srgbClr val="161C24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4708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25C6D2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65376"/>
            <a:ext cx="4251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7ECF2"/>
                </a:solidFill>
                <a:latin typeface="Arial"/>
              </a:rPr>
              <a:t>Escape the firing floor with analog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>
                <a:solidFill>
                  <a:srgbClr val="93A0AE"/>
                </a:solidFill>
                <a:latin typeface="Arial"/>
              </a:rPr>
              <a:t>Build an SSM whose recurrent state lives in sub-threshold analog dynamics, not spikes — test whether it breaks our bound's assumption and sparsifies like attention did.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440680" cy="1691640"/>
          </a:xfrm>
          <a:prstGeom prst="roundRect">
            <a:avLst>
              <a:gd name="adj" fmla="val 8000"/>
            </a:avLst>
          </a:prstGeom>
          <a:solidFill>
            <a:srgbClr val="161C24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84708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25C6D2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865376"/>
            <a:ext cx="4251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7ECF2"/>
                </a:solidFill>
                <a:latin typeface="Arial"/>
              </a:rPr>
              <a:t>Predictive coding on neuromorphic silicon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2395728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>
                <a:solidFill>
                  <a:srgbClr val="93A0AE"/>
                </a:solidFill>
                <a:latin typeface="Arial"/>
              </a:rPr>
              <a:t>Implement an error-propagating hierarchy with local (EqProp) learning; measure real energy on Loihi 2 / SpiNNaker2 — turning the 45nm proxy into a measurement.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39"/>
            <a:ext cx="5440680" cy="1691640"/>
          </a:xfrm>
          <a:prstGeom prst="roundRect">
            <a:avLst>
              <a:gd name="adj" fmla="val 8000"/>
            </a:avLst>
          </a:prstGeom>
          <a:solidFill>
            <a:srgbClr val="161C24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721607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25C6D2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39896"/>
            <a:ext cx="4251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7ECF2"/>
                </a:solidFill>
                <a:latin typeface="Arial"/>
              </a:rPr>
              <a:t>Quantify the floor–vs–wall trade-off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70248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>
                <a:solidFill>
                  <a:srgbClr val="93A0AE"/>
                </a:solidFill>
                <a:latin typeface="Arial"/>
              </a:rPr>
              <a:t>Formalize the recurrence(firing floor) ↔ attention(memory wall) dichotomy as a conservation law; find the Pareto frontier and where analog-state models sit on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20439"/>
            <a:ext cx="5440680" cy="1691640"/>
          </a:xfrm>
          <a:prstGeom prst="roundRect">
            <a:avLst>
              <a:gd name="adj" fmla="val 8000"/>
            </a:avLst>
          </a:prstGeom>
          <a:solidFill>
            <a:srgbClr val="161C24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3721607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25C6D2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3739896"/>
            <a:ext cx="4251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7ECF2"/>
                </a:solidFill>
                <a:latin typeface="Arial"/>
              </a:rPr>
              <a:t>Closed-loop world-model at the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4270248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>
                <a:solidFill>
                  <a:srgbClr val="93A0AE"/>
                </a:solidFill>
                <a:latin typeface="Arial"/>
              </a:rPr>
              <a:t>A predictive world-model + planning loop for a low-power embodied agent — where neuromorphic's real-time, event-driven physics is decisive.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spc="140">
                <a:solidFill>
                  <a:srgbClr val="9B8CFF"/>
                </a:solidFill>
                <a:latin typeface="Consolas"/>
              </a:rPr>
              <a:t>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82880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E7ECF2"/>
                </a:solidFill>
                <a:latin typeface="Arial"/>
              </a:rPr>
              <a:t>Intelligence is a loop, not a lookup.
</a:t>
            </a:r>
            <a:r>
              <a:rPr sz="2000" b="1">
                <a:solidFill>
                  <a:srgbClr val="93A0AE"/>
                </a:solidFill>
                <a:latin typeface="Arial"/>
              </a:rPr>
              <a:t>If neuromorphic can't ride attention, it shouldn't — its physics aligns with the </a:t>
            </a:r>
            <a:r>
              <a:rPr sz="2000" b="1">
                <a:solidFill>
                  <a:srgbClr val="9B8CFF"/>
                </a:solidFill>
                <a:latin typeface="Arial"/>
              </a:rPr>
              <a:t>predictive, sparse, local, embodied</a:t>
            </a:r>
            <a:r>
              <a:rPr sz="2000" b="1">
                <a:solidFill>
                  <a:srgbClr val="93A0AE"/>
                </a:solidFill>
                <a:latin typeface="Arial"/>
              </a:rPr>
              <a:t> paradigm the brain already proves works at 20 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9B8CFF"/>
                </a:solidFill>
                <a:latin typeface="Consolas"/>
              </a:rPr>
              <a:t>SOURCES  </a:t>
            </a:r>
            <a:r>
              <a:rPr sz="950" b="0">
                <a:solidFill>
                  <a:srgbClr val="667280"/>
                </a:solidFill>
                <a:latin typeface="Consolas"/>
              </a:rPr>
              <a:t>Predictive coding: Millidge+22, Salvatori/Song ICLR’24 (2506.06332) · EqProp: Scellier, EqSpike, 2606.03584 · SSM: Mamba, SpikingMamba 2510.04595, SpikySpace · JEPA: V-JEPA 2, LeJEPA · Hopfield: Ramsauer, 2411.08590 · Active inference: Friston, PMC12217590 · Sparsity Ceiling (this work, arXiv cs.NE)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