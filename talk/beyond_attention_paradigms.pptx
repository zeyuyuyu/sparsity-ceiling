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5" r:id="rId17"/>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notesMaster" Target="notesMasters/notesMaster1.xml"/><Relationship Id="rId17"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[~40s · open calm, set the frame]</a:t>
            </a:r>
          </a:p>
          <a:p/>
          <a:p>
            <a:r>
              <a:t>SAY: Thanks for the time. This is a research direction that grew out of a small empirical result of mine -- a short paper, "The Sparsity Ceiling," now on arXiv under cs.NE. The one-line version: if spiking, brain-inspired hardware cannot ride the Transformer paradigm -- and I have a result showing it structurally can't -- then the real question isn't "how do we port Transformers to neuromorphic," it's "what paradigm of intelligence is neuromorphic actually FOR." Today I'll give you the argument, a map of six non-attention paradigms, and where I'd place the bet -- ending on four concrete projects.</a:t>
            </a:r>
          </a:p>
          <a:p/>
          <a:p>
            <a:r>
              <a:t>HAVE READY: The paper is my own work -- controlled experiments on an 8xA800 box, plus a small information-theoretic bound. Everything I show is either that result or peer-reviewed 2024-26 literature.</a:t>
            </a:r>
          </a:p>
          <a:p/>
          <a:p>
            <a:r>
              <a:t>DELIVERY: Don't rush the title. Let "what is neuromorphic FOR" sit for a beat -- that's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[~70s · this is the thesis slide -- slow down, this is the frame everything hangs on]</a:t>
            </a:r>
          </a:p>
          <a:p/>
          <a:p>
            <a:r>
              <a:t>SAY: Start with what I think intelligence actually is. My working definition: a predictive generative model of the world, held in ongoing internal dynamics, that spends compute only on surprise, and acts to test its own predictions. The operative word is LOOP -- a system continuously interacting with the world -- not a FUNCTION that maps a context window to a token. That distinction is architectural, not philosophical: a Transformer has no persistent internal state between calls; every forward pass is independent, and its "memory" is just the context re-fed each time. A brain never restarts -- it's a continuous dynamical system whose core operation is to predict incoming signals and propagate only the residual error. That's predictive coding -- Rao and Ballard '99, formalized by Friston's free-energy principle.</a:t>
            </a:r>
          </a:p>
          <a:p/>
          <a:p>
            <a:r>
              <a:t>Transformers reach intelligence the opposite way: stateless, dense retrieval over the entire context, brute-forced with scale.</a:t>
            </a:r>
          </a:p>
          <a:p/>
          <a:p>
            <a:r>
              <a:t>Now the empirical hook, on the right -- my result. Same network, swap only the neuron. A recurrent spiking net hits a hard firing floor around 50 percent: even with a strong sparsity penalty targeting 10 percent, three seeds, it will not go below ~50. Attention CAN be driven sparse -- I get a spiking Transformer down to 2 percent firing -- but only because it stores the full key-value cache, which is O(context) memory. So on neuromorphic hardware you face a dichotomy: recurrence pays a firing floor, attention pays a memory wall. Either way, the Transformer route is mismatched to the hardware. That mismatch is what motivates the entire talk.</a:t>
            </a:r>
          </a:p>
          <a:p/>
          <a:p>
            <a:r>
              <a:t>IF ASKED "isn't next-token prediction also prediction?": Yes, but it's prediction implemented as a global retrieval over a stored context in one dense pass -- not prediction as an ongoing generative model with error feedback and persistent latent state. The residual-only, stateful version is what's cheap on neuromorphic; the retrieval version is what's expensive.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 walk each row briefly, hit the bottom row hard]</a:t>
            </a:r>
          </a:p>
          <a:p/>
          <a:p>
            <a:r>
              <a:t>SAY: Side by side, the two paradigms are almost point-for-point opposites.</a:t>
            </a:r>
          </a:p>
          <a:p>
            <a:r>
              <a:t>- State: a Transformer is a pure function of its input window; the brain is a stateful dynamical system -- attractors, oscillations, persistent activity.</a:t>
            </a:r>
          </a:p>
          <a:p>
            <a:r>
              <a:t>- Memory: the KV cache grows linearly with context -- that's the memory wall. On-chip SRAM is tiny -- IBM's NorthPole is 224 megabytes; it can't even hold LLM weights, let alone a growing cache. The brain compresses history into a fixed-dimensional state plus synaptic weights.</a:t>
            </a:r>
          </a:p>
          <a:p>
            <a:r>
              <a:t>- Compute: attention is O(L-squared) all-pairs, QK-transpose over everything. Predictive coding computes only on prediction errors -- sparse by construction.</a:t>
            </a:r>
          </a:p>
          <a:p>
            <a:r>
              <a:t>- Learning: backprop needs a global error signal and stored activations for the whole graph; the brain uses local, Hebbian, three-factor rules -- online and continual.</a:t>
            </a:r>
          </a:p>
          <a:p>
            <a:r>
              <a:t>- Source of capability: Transformers get it from scale -- parameters times data times compute; the brain from a good generative model plus embodiment.</a:t>
            </a:r>
          </a:p>
          <a:p/>
          <a:p>
            <a:r>
              <a:t>The bottom row is the punchline for us: the Transformer column is precisely what neuromorphic hardware is BAD at -- dense MACs and a memory wall -- and the brain column is precisely what it's GOOD at -- event-driven, analog, local. So the paradigm choice and the hardware choice are the same choice. You don't pick the hardware and then port the algorithm; you pick the paradigm the physics wants.</a:t>
            </a:r>
          </a:p>
          <a:p/>
          <a:p>
            <a:r>
              <a:t>IF ASKED "Transformers work today and brain-like models don't -- so what?": Fair, and I'll be honest about that on slide 7. This slide is about structural alignment with the hardware, not current capability.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[~65s · anticipate the obvious objection -- this is the intellectually strongest slide]</a:t>
            </a:r>
          </a:p>
          <a:p/>
          <a:p>
            <a:r>
              <a:t>SAY: Here's the fair objection, and I want to meet it head-on: my own paper proves recurrent spiking nets have a firing floor. So how does the brain -- which is recurrent AND spiking -- avoid it?</a:t>
            </a:r>
          </a:p>
          <a:p/>
          <a:p>
            <a:r>
              <a:t>The answer: the brain violates the assumption behind my bound. My bound says the minimum firing rate rho is at least H-b-inverse of log-2 M over H -- it comes from a counting argument: a binary vector of H units with rho-H ones can only index about 2-to-the-(H times binary-entropy-of-rho) distinct states, so to hold M memories you need enough active bits. But that bound assumes the state channel is BINARY SPIKES. The brain's isn't.</a:t>
            </a:r>
          </a:p>
          <a:p/>
          <a:p>
            <a:r>
              <a:t>Three escapes:</a:t>
            </a:r>
          </a:p>
          <a:p>
            <a:r>
              <a:t>One -- analog state. Real neurons carry graded information in sub-threshold membrane potential, and hold working memory in short-term synaptic facilitation -- "activity-silent" memory, Mongillo '08, Stokes '15. Memory can persist with near-zero firing. So spikes aren't the memory channel; they signal errors.</a:t>
            </a:r>
          </a:p>
          <a:p>
            <a:r>
              <a:t>Two -- enormous H. Ten-to-the-eleven neurons drives log-2 M over H toward zero, so rho-min goes to zero. Sparse coding, roughly one-to-two percent active, is exactly the observed regime.</a:t>
            </a:r>
          </a:p>
          <a:p>
            <a:r>
              <a:t>Three -- local, multi-timescale learning: fast spikes, slow synaptic eligibility traces, neuromodulation as the third factor. No unrolling the whole history.</a:t>
            </a:r>
          </a:p>
          <a:p/>
          <a:p>
            <a:r>
              <a:t>The bottom line is the existence proof: the brain runs general intelligence on 20 watts -- about a thousand times more efficient than GPUs per equivalent operation -- using prediction and sparsity, not attention. So the paradigm demonstrably scales to general intelligence. That's the whole reason to take it seriously.</a:t>
            </a:r>
          </a:p>
          <a:p/>
          <a:p>
            <a:r>
              <a:t>IF ASKED "so just build analog neurons?": Essentially yes -- that's my direction #1, an analog-state SSM. The bet is analog state plus event-driven spikes, not spiking Transformers.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[~80s · the survey -- keep brisk, roughly one breath per row; you don't need every citation aloud, have them ready]</a:t>
            </a:r>
          </a:p>
          <a:p/>
          <a:p>
            <a:r>
              <a:t>SAY: If not attention, what? Six non-attention paradigms, each a real, active line.</a:t>
            </a:r>
          </a:p>
          <a:p/>
          <a:p>
            <a:r>
              <a:t>- Predictive coding: a hierarchy where each layer predicts the one below and only errors propagate; the learning rule is local yet provably approximates backprop -- Whittington and Bogacz, Millidge et al. 2022, and a stable fast version at ICLR 2024.</a:t>
            </a:r>
          </a:p>
          <a:p>
            <a:r>
              <a:t>- Equilibrium propagation: energy-based; you relax the network to an energy minimum, nudge the output, and the weight update falls out of the local activity difference -- no separate backward pass. It's analog-native; hardware demos on memristors and oscillators claim up to four orders of magnitude less training energy, and there's now ImageNet-scale EP.</a:t>
            </a:r>
          </a:p>
          <a:p>
            <a:r>
              <a:t>- Analog and spiking state-space models: SSMs -- S4, then Mamba -- are the anti-Transformer sequence model: linear recurrence, compressed state, O(L), no KV cache. Spiking versions -- SpikingMamba, SpikySpace -- add event-driven sparsity; if you keep the state analog you sidestep my firing floor.</a:t>
            </a:r>
          </a:p>
          <a:p>
            <a:r>
              <a:t>- World models and JEPA: LeCun's bet -- predict in latent representation space, not pixels or tokens; V-JEPA 2 is 1.2 billion parameters on a million hours of video. Pair it with model-based planning -- Dreamer, MuZero -- and reasoning becomes simulation and search, not one dense pass.</a:t>
            </a:r>
          </a:p>
          <a:p>
            <a:r>
              <a:t>- Modern Hopfield / associative memory: and this one is delightful -- Ramsauer et al. showed the modern Hopfield update is mathematically IDENTICAL to Transformer attention, with exponential storage capacity. So "attention" is just associative retrieval; the brain does the same thing with attractor relaxation dynamics -- which is neuromorphic-native.</a:t>
            </a:r>
          </a:p>
          <a:p>
            <a:r>
              <a:t>- Active inference: minimize expected free energy; perception and action unified in one closed loop; embodied.</a:t>
            </a:r>
          </a:p>
          <a:p/>
          <a:p>
            <a:r>
              <a:t>The double-checkmarks are where neuromorphic PHYSICS is the enabler, not just an algorithmic fit -- predictive coding, EqProp, analog SSM.</a:t>
            </a:r>
          </a:p>
          <a:p/>
          <a:p>
            <a:r>
              <a:t>IF ASKED "which is closest to working at scale?": SSMs -- Mamba is already competitive with Transformers and runs on GPU. But predictive coding and EqProp are where neuromorphic hardware adds the most, because their local, error-only structure is what the silicon wants.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 commit -- say it like a conviction, not a hedge]</a:t>
            </a:r>
          </a:p>
          <a:p/>
          <a:p>
            <a:r>
              <a:t>SAY: If I have to place one bet, it's this: a predictive world-model held in analog recurrent dynamics, learned locally and online -- predictive coding or equilibrium propagation -- acting in a closed loop, where spikes carry only surprise.</a:t>
            </a:r>
          </a:p>
          <a:p/>
          <a:p>
            <a:r>
              <a:t>It's a synthesis, deliberately: SSM-style compressed recurrent state, but in analog dynamics so you escape the floor; predictive-coding error-only propagation so it's event-driven; local learning so training happens on-chip; and a world-model-plus-planning loop so reasoning is search, not a giant forward pass. Each piece has independent evidence; the claim is they compose into a coherent, neuromorphic-native stack.</a:t>
            </a:r>
          </a:p>
          <a:p/>
          <a:p>
            <a:r>
              <a:t>And I want to stress: this is not settling for less. It's choosing the paradigm where the hardware's physics is a feature, not a bug. The four alignment points map one-to-one onto four hardware advantages: analog state removes the memory wall AND the firing floor; error-only propagation IS event-driven, native to spiking silicon; local plasticity gives you on-chip learning at roughly ten-thousand-fold lower energy; and recurrence plus search gives you test-time reasoning without scaling a single dense pass.</a:t>
            </a:r>
          </a:p>
          <a:p/>
          <a:p>
            <a:r>
              <a:t>IF ASKED "isn't this just a wish-list of everything brain-like?": No -- it's specifically the subset where the physics is the enabler. I'm explicitly NOT betting on spiking Transformers or datacenter neuromorphic -- my paper shows those lose. The unifying principle is one sentence: spend energy only on surprise, and keep state in physics, not in a cache.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[~50s · say the hard part plainly -- this slide earns you the most credibility]</a:t>
            </a:r>
          </a:p>
          <a:p/>
          <a:p>
            <a:r>
              <a:t>SAY: Let me be honest about where this stands, because a professor will ask anyway. None of these paradigms has beaten Transformers yet. Predictive coding, EqProp, SSMs, Hopfield, JEPA, active inference -- all promising, all more brain-like, none has produced GPT-class general capability. Concretely, Transformers still win on three things: the scalability of backprop-on-GPUs for training, in-context learning via massive retrieval, and sheer engineering maturity. This is a research bet, not a finished alternative, and I'll state it as such.</a:t>
            </a:r>
          </a:p>
          <a:p/>
          <a:p>
            <a:r>
              <a:t>But here's why it's still the right bet. The brain runs general intelligence on 20 watts using exactly this paradigm. So we KNOW the paradigm can reach general intelligence -- it's an existence proof -- we just haven't reproduced it in silicon. That gap is the open frontier, and it's the reason to work on it, not the reason to avoid it.</a:t>
            </a:r>
          </a:p>
          <a:p/>
          <a:p>
            <a:r>
              <a:t>IF ASKED "why would this ever beat Transformers?": Two forcing functions. The energy wall -- Transformer training and inference cost is becoming unsustainable, and the brain shows a thousand-fold headroom exists. And the memory wall -- attention's KV cache doesn't scale to long-horizon, always-on agents. If either bites hard, the predictive-sparse paradigm is where the escape 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[~65s · concrete -- this is what you'd actually do in the lab; sequence it]</a:t>
            </a:r>
          </a:p>
          <a:p/>
          <a:p>
            <a:r>
              <a:t>SAY: Concretely, four projects.</a:t>
            </a:r>
          </a:p>
          <a:p/>
          <a:p>
            <a:r>
              <a:t>One -- escape the firing floor with analog state. Build a state-space model whose recurrent state is a leaky ANALOG variable, sub-threshold, with spikes only for output and error. Then measure attainable firing versus the spiking RNN: does it break my bound's assumption and sparsify the way attention did? This is the cleanest test of the core hypothesis, and I can start it in simulation today.</a:t>
            </a:r>
          </a:p>
          <a:p/>
          <a:p>
            <a:r>
              <a:t>Two -- predictive coding on neuromorphic silicon. Implement an error-propagating hierarchy trained with equilibrium propagation -- local rules -- and MEASURE real energy on Loihi 2 or SpiNNaker2. That turns my 45-nanometer proxy into an actual hardware measurement. This one needs INRC access to Loihi, which the PhD provides.</a:t>
            </a:r>
          </a:p>
          <a:p/>
          <a:p>
            <a:r>
              <a:t>Three -- formalize the trade-off. Prove the recurrence-versus-attention, firing-floor-versus-memory-wall dichotomy as a conservation law -- a Pareto frontier -- and locate where analog-state models sit on it. This is the theory contribution; it extends the paper.</a:t>
            </a:r>
          </a:p>
          <a:p/>
          <a:p>
            <a:r>
              <a:t>Four -- closed-loop world-model at the edge. A predictive world-model plus planning loop for a low-power embodied agent, where real-time, event-driven perception-action is decisive. This is the applied payoff.</a:t>
            </a:r>
          </a:p>
          <a:p/>
          <a:p>
            <a:r>
              <a:t>SEQUENCING: One and three I can start immediately -- simulation and theory. Two needs hardware access. Four is the longer applied arc.</a:t>
            </a:r>
          </a:p>
          <a:p/>
          <a:p>
            <a:r>
              <a:t>IF ASKED "which first?": Number one -- it directly tests whether analog state is the escape route, and it needs nothing but simulation to get the first signal.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 land it, then open the floor]</a:t>
            </a:r>
          </a:p>
          <a:p/>
          <a:p>
            <a:r>
              <a:t>SAY: To close: intelligence is a loop, not a lookup. If neuromorphic hardware can't ride attention, it shouldn't try -- its physics aligns with the predictive, sparse, local, embodied paradigm that the brain already proves works at 20 watts. That alignment is the thesis, and those four projects are how I'd pursue it.</a:t>
            </a:r>
          </a:p>
          <a:p/>
          <a:p>
            <a:r>
              <a:t>I'm happy to go deeper on any of the six paradigms, on the bound and its derivation, or on the experiments. Thank you.</a:t>
            </a:r>
          </a:p>
          <a:p/>
          <a:p>
            <a:r>
              <a:t>HAVE READY FOR Q&amp;A: the arXiv paper; the bound's one-line derivation (counting argument); and the six key citations on the sources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2588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RESEARCH DIRECTION · FROM AN EMPIRICAL RESULT TO A BET</a:t>
            </a:r>
          </a:p>
        </p:txBody>
      </p:sp>
      <p:sp>
        <p:nvSpPr>
          <p:cNvPr id="4" name="TextBox 3"/>
          <p:cNvSpPr txBox="1"/>
          <p:nvPr/>
        </p:nvSpPr>
        <p:spPr>
          <a:xfrm>
            <a:off x="786384" y="1783080"/>
            <a:ext cx="10424160" cy="1828800"/>
          </a:xfrm>
          <a:prstGeom prst="rect">
            <a:avLst/>
          </a:prstGeom>
          <a:noFill/>
        </p:spPr>
        <p:txBody>
          <a:bodyPr wrap="square" anchor="t" lIns="0" rIns="0" tIns="0" bIns="0">
            <a:spAutoFit/>
          </a:bodyPr>
          <a:lstStyle/>
          <a:p>
            <a:pPr algn="l">
              <a:lnSpc>
                <a:spcPct val="104000"/>
              </a:lnSpc>
            </a:pPr>
            <a:r>
              <a:rPr sz="4000" b="1">
                <a:solidFill>
                  <a:srgbClr val="E7ECF2"/>
                </a:solidFill>
                <a:latin typeface="Arial"/>
              </a:rPr>
              <a:t>Beyond Attention</a:t>
            </a:r>
            <a:r>
              <a:rPr sz="4000" b="1">
                <a:solidFill>
                  <a:srgbClr val="93A0AE"/>
                </a:solidFill>
                <a:latin typeface="Arial"/>
              </a:rPr>
              <a:t>:</a:t>
            </a:r>
            <a:r>
              <a:rPr sz="4000" b="1">
                <a:solidFill>
                  <a:srgbClr val="E7ECF2"/>
                </a:solidFill>
                <a:latin typeface="Arial"/>
              </a:rPr>
              <a:t>
what paradigm of intelligence can</a:t>
            </a:r>
            <a:r>
              <a:rPr sz="4000" b="1">
                <a:solidFill>
                  <a:srgbClr val="25C6D2"/>
                </a:solidFill>
                <a:latin typeface="Arial"/>
              </a:rPr>
              <a:t>
neuromorphic hardware actually ride?</a:t>
            </a:r>
          </a:p>
        </p:txBody>
      </p:sp>
      <p:sp>
        <p:nvSpPr>
          <p:cNvPr id="5" name="TextBox 4"/>
          <p:cNvSpPr txBox="1"/>
          <p:nvPr/>
        </p:nvSpPr>
        <p:spPr>
          <a:xfrm>
            <a:off x="822960" y="4160520"/>
            <a:ext cx="9875520" cy="914400"/>
          </a:xfrm>
          <a:prstGeom prst="rect">
            <a:avLst/>
          </a:prstGeom>
          <a:noFill/>
        </p:spPr>
        <p:txBody>
          <a:bodyPr wrap="square" anchor="t" lIns="0" rIns="0" tIns="0" bIns="0">
            <a:spAutoFit/>
          </a:bodyPr>
          <a:lstStyle/>
          <a:p>
            <a:pPr algn="l">
              <a:lnSpc>
                <a:spcPct val="125000"/>
              </a:lnSpc>
            </a:pPr>
            <a:r>
              <a:rPr sz="1600" b="0">
                <a:solidFill>
                  <a:srgbClr val="93A0AE"/>
                </a:solidFill>
                <a:latin typeface="Arial"/>
              </a:rPr>
              <a:t>If spiking hardware cannot ride the Transformer paradigm, what CAN it ride? </a:t>
            </a:r>
            <a:r>
              <a:rPr sz="1600" b="1">
                <a:solidFill>
                  <a:srgbClr val="E7ECF2"/>
                </a:solidFill>
                <a:latin typeface="Arial"/>
              </a:rPr>
              <a:t>A map of six non-attention paradigms, and where I'd place the bet.</a:t>
            </a:r>
          </a:p>
        </p:txBody>
      </p:sp>
      <p:sp>
        <p:nvSpPr>
          <p:cNvPr id="6" name="TextBox 5"/>
          <p:cNvSpPr txBox="1"/>
          <p:nvPr/>
        </p:nvSpPr>
        <p:spPr>
          <a:xfrm>
            <a:off x="822960" y="5486400"/>
            <a:ext cx="10058400" cy="274320"/>
          </a:xfrm>
          <a:prstGeom prst="rect">
            <a:avLst/>
          </a:prstGeom>
          <a:noFill/>
        </p:spPr>
        <p:txBody>
          <a:bodyPr wrap="square" anchor="t" lIns="0" rIns="0" tIns="0" bIns="0">
            <a:spAutoFit/>
          </a:bodyPr>
          <a:lstStyle/>
          <a:p>
            <a:pPr algn="l">
              <a:lnSpc>
                <a:spcPct val="105000"/>
              </a:lnSpc>
            </a:pPr>
            <a:r>
              <a:rPr sz="1200" b="0">
                <a:solidFill>
                  <a:srgbClr val="667280"/>
                </a:solidFill>
                <a:latin typeface="Consolas"/>
              </a:rPr>
              <a:t>Zeyu Wang   ·   builds on “The Sparsity Ceiling” (arXiv, cs.NE)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01 · THE QUESTION</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02</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500" b="1">
                <a:solidFill>
                  <a:srgbClr val="E7ECF2"/>
                </a:solidFill>
                <a:latin typeface="Arial"/>
              </a:rPr>
              <a:t>What is the “point” of intelligence — and is attention it?</a:t>
            </a:r>
          </a:p>
        </p:txBody>
      </p:sp>
      <p:sp>
        <p:nvSpPr>
          <p:cNvPr id="6" name="TextBox 5"/>
          <p:cNvSpPr txBox="1"/>
          <p:nvPr/>
        </p:nvSpPr>
        <p:spPr>
          <a:xfrm>
            <a:off x="548640" y="1600200"/>
            <a:ext cx="6583680" cy="3291840"/>
          </a:xfrm>
          <a:prstGeom prst="rect">
            <a:avLst/>
          </a:prstGeom>
          <a:noFill/>
        </p:spPr>
        <p:txBody>
          <a:bodyPr wrap="square" anchor="t" lIns="0" rIns="0" tIns="0" bIns="0">
            <a:spAutoFit/>
          </a:bodyPr>
          <a:lstStyle/>
          <a:p>
            <a:pPr algn="l">
              <a:lnSpc>
                <a:spcPct val="130000"/>
              </a:lnSpc>
            </a:pPr>
            <a:r>
              <a:rPr sz="1550" b="0">
                <a:solidFill>
                  <a:srgbClr val="93A0AE"/>
                </a:solidFill>
                <a:latin typeface="Arial"/>
              </a:rPr>
              <a:t>A working answer: intelligence is </a:t>
            </a:r>
            <a:r>
              <a:rPr sz="1550" b="1">
                <a:solidFill>
                  <a:srgbClr val="E7ECF2"/>
                </a:solidFill>
                <a:latin typeface="Arial"/>
              </a:rPr>
              <a:t>a predictive generative model of the world, maintained in persistent dynamics, spending compute only on surprise, and acting to test its predictions.</a:t>
            </a:r>
            <a:r>
              <a:rPr sz="1550" b="0">
                <a:solidFill>
                  <a:srgbClr val="93A0AE"/>
                </a:solidFill>
                <a:latin typeface="Arial"/>
              </a:rPr>
              <a:t>
It is a </a:t>
            </a:r>
            <a:r>
              <a:rPr sz="1550" b="1">
                <a:solidFill>
                  <a:srgbClr val="25C6D2"/>
                </a:solidFill>
                <a:latin typeface="Arial"/>
              </a:rPr>
              <a:t>loop</a:t>
            </a:r>
            <a:r>
              <a:rPr sz="1550" b="0">
                <a:solidFill>
                  <a:srgbClr val="93A0AE"/>
                </a:solidFill>
                <a:latin typeface="Arial"/>
              </a:rPr>
              <a:t> (model ⇄ world), not a </a:t>
            </a:r>
            <a:r>
              <a:rPr sz="1550" b="1">
                <a:solidFill>
                  <a:srgbClr val="E0A05A"/>
                </a:solidFill>
                <a:latin typeface="Arial"/>
              </a:rPr>
              <a:t>function</a:t>
            </a:r>
            <a:r>
              <a:rPr sz="1550" b="0">
                <a:solidFill>
                  <a:srgbClr val="93A0AE"/>
                </a:solidFill>
                <a:latin typeface="Arial"/>
              </a:rPr>
              <a:t> (context → token).
Transformers reach intelligence the opposite way: </a:t>
            </a:r>
            <a:r>
              <a:rPr sz="1550" b="0">
                <a:solidFill>
                  <a:srgbClr val="E7ECF2"/>
                </a:solidFill>
                <a:latin typeface="Arial"/>
              </a:rPr>
              <a:t>stateless, dense retrieval over the whole context, at scale.</a:t>
            </a:r>
          </a:p>
        </p:txBody>
      </p:sp>
      <p:sp>
        <p:nvSpPr>
          <p:cNvPr id="7" name="Rounded Rectangle 6"/>
          <p:cNvSpPr/>
          <p:nvPr/>
        </p:nvSpPr>
        <p:spPr>
          <a:xfrm>
            <a:off x="7452360" y="1600200"/>
            <a:ext cx="4160520" cy="356616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52360" y="1600200"/>
            <a:ext cx="54864" cy="3566160"/>
          </a:xfrm>
          <a:prstGeom prst="rect">
            <a:avLst/>
          </a:prstGeom>
          <a:solidFill>
            <a:srgbClr val="F06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874519"/>
            <a:ext cx="3611880" cy="274320"/>
          </a:xfrm>
          <a:prstGeom prst="rect">
            <a:avLst/>
          </a:prstGeom>
          <a:noFill/>
        </p:spPr>
        <p:txBody>
          <a:bodyPr wrap="square" anchor="t" lIns="0" rIns="0" tIns="0" bIns="0">
            <a:spAutoFit/>
          </a:bodyPr>
          <a:lstStyle/>
          <a:p>
            <a:pPr algn="l">
              <a:lnSpc>
                <a:spcPct val="105000"/>
              </a:lnSpc>
            </a:pPr>
            <a:r>
              <a:rPr sz="1100" b="1" spc="80">
                <a:solidFill>
                  <a:srgbClr val="F06A5F"/>
                </a:solidFill>
                <a:latin typeface="Consolas"/>
              </a:rPr>
              <a:t>THE EMPIRICAL HOOK</a:t>
            </a:r>
          </a:p>
        </p:txBody>
      </p:sp>
      <p:sp>
        <p:nvSpPr>
          <p:cNvPr id="10" name="TextBox 9"/>
          <p:cNvSpPr txBox="1"/>
          <p:nvPr/>
        </p:nvSpPr>
        <p:spPr>
          <a:xfrm>
            <a:off x="7772400" y="2286000"/>
            <a:ext cx="3611880" cy="457200"/>
          </a:xfrm>
          <a:prstGeom prst="rect">
            <a:avLst/>
          </a:prstGeom>
          <a:noFill/>
        </p:spPr>
        <p:txBody>
          <a:bodyPr wrap="square" anchor="t" lIns="0" rIns="0" tIns="0" bIns="0">
            <a:spAutoFit/>
          </a:bodyPr>
          <a:lstStyle/>
          <a:p>
            <a:pPr algn="l">
              <a:lnSpc>
                <a:spcPct val="105000"/>
              </a:lnSpc>
            </a:pPr>
            <a:r>
              <a:rPr sz="1350" b="1">
                <a:solidFill>
                  <a:srgbClr val="E7ECF2"/>
                </a:solidFill>
                <a:latin typeface="Arial"/>
              </a:rPr>
              <a:t>Our result — the sparsity ceiling:</a:t>
            </a:r>
          </a:p>
        </p:txBody>
      </p:sp>
      <p:sp>
        <p:nvSpPr>
          <p:cNvPr id="11" name="TextBox 10"/>
          <p:cNvSpPr txBox="1"/>
          <p:nvPr/>
        </p:nvSpPr>
        <p:spPr>
          <a:xfrm>
            <a:off x="7772400" y="283464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Recurrence</a:t>
            </a:r>
          </a:p>
        </p:txBody>
      </p:sp>
      <p:sp>
        <p:nvSpPr>
          <p:cNvPr id="12" name="TextBox 11"/>
          <p:cNvSpPr txBox="1"/>
          <p:nvPr/>
        </p:nvSpPr>
        <p:spPr>
          <a:xfrm>
            <a:off x="7772400" y="309067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hits a firing floor (~50%)</a:t>
            </a:r>
          </a:p>
        </p:txBody>
      </p:sp>
      <p:sp>
        <p:nvSpPr>
          <p:cNvPr id="13" name="TextBox 12"/>
          <p:cNvSpPr txBox="1"/>
          <p:nvPr/>
        </p:nvSpPr>
        <p:spPr>
          <a:xfrm>
            <a:off x="7772400" y="361188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Attention</a:t>
            </a:r>
          </a:p>
        </p:txBody>
      </p:sp>
      <p:sp>
        <p:nvSpPr>
          <p:cNvPr id="14" name="TextBox 13"/>
          <p:cNvSpPr txBox="1"/>
          <p:nvPr/>
        </p:nvSpPr>
        <p:spPr>
          <a:xfrm>
            <a:off x="7772400" y="386791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sparsifies, but O(context) KV = memory wall</a:t>
            </a:r>
          </a:p>
        </p:txBody>
      </p:sp>
      <p:sp>
        <p:nvSpPr>
          <p:cNvPr id="15" name="TextBox 14"/>
          <p:cNvSpPr txBox="1"/>
          <p:nvPr/>
        </p:nvSpPr>
        <p:spPr>
          <a:xfrm>
            <a:off x="7772400" y="438912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Verdict</a:t>
            </a:r>
          </a:p>
        </p:txBody>
      </p:sp>
      <p:sp>
        <p:nvSpPr>
          <p:cNvPr id="16" name="TextBox 15"/>
          <p:cNvSpPr txBox="1"/>
          <p:nvPr/>
        </p:nvSpPr>
        <p:spPr>
          <a:xfrm>
            <a:off x="7772400" y="464515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the Transformer route is hardware-mismatched to neuromorphic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02 · TWO PARADIGMS OF INTELLIGENCE</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03</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They are opposites — and only one fits 20-watt hardware</a:t>
            </a:r>
          </a:p>
        </p:txBody>
      </p:sp>
      <p:sp>
        <p:nvSpPr>
          <p:cNvPr id="6" name="Rectangle 5"/>
          <p:cNvSpPr/>
          <p:nvPr/>
        </p:nvSpPr>
        <p:spPr>
          <a:xfrm>
            <a:off x="548640" y="1600200"/>
            <a:ext cx="11091672" cy="457200"/>
          </a:xfrm>
          <a:prstGeom prst="rect">
            <a:avLst/>
          </a:prstGeom>
          <a:solidFill>
            <a:srgbClr val="1F2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1600200"/>
            <a:ext cx="2487168" cy="457200"/>
          </a:xfrm>
          <a:prstGeom prst="rect">
            <a:avLst/>
          </a:prstGeom>
          <a:noFill/>
        </p:spPr>
        <p:txBody>
          <a:bodyPr wrap="square" anchor="ctr" lIns="0" rIns="0" tIns="0" bIns="0">
            <a:spAutoFit/>
          </a:bodyPr>
          <a:lstStyle/>
          <a:p>
            <a:pPr algn="l">
              <a:lnSpc>
                <a:spcPct val="105000"/>
              </a:lnSpc>
            </a:pPr>
            <a:r>
              <a:rPr sz="1100" b="1" spc="50">
                <a:solidFill>
                  <a:srgbClr val="93A0AE"/>
                </a:solidFill>
                <a:latin typeface="Consolas"/>
              </a:rPr>
              <a:t>DIMENSION</a:t>
            </a:r>
          </a:p>
        </p:txBody>
      </p:sp>
      <p:sp>
        <p:nvSpPr>
          <p:cNvPr id="8" name="TextBox 7"/>
          <p:cNvSpPr txBox="1"/>
          <p:nvPr/>
        </p:nvSpPr>
        <p:spPr>
          <a:xfrm>
            <a:off x="3419856" y="1600200"/>
            <a:ext cx="3950207" cy="457200"/>
          </a:xfrm>
          <a:prstGeom prst="rect">
            <a:avLst/>
          </a:prstGeom>
          <a:noFill/>
        </p:spPr>
        <p:txBody>
          <a:bodyPr wrap="square" anchor="ctr" lIns="0" rIns="0" tIns="0" bIns="0">
            <a:spAutoFit/>
          </a:bodyPr>
          <a:lstStyle/>
          <a:p>
            <a:pPr algn="l">
              <a:lnSpc>
                <a:spcPct val="105000"/>
              </a:lnSpc>
            </a:pPr>
            <a:r>
              <a:rPr sz="1100" b="1" spc="50">
                <a:solidFill>
                  <a:srgbClr val="E0A05A"/>
                </a:solidFill>
                <a:latin typeface="Consolas"/>
              </a:rPr>
              <a:t>TRANSFORMER PARADIGM</a:t>
            </a:r>
          </a:p>
        </p:txBody>
      </p:sp>
      <p:sp>
        <p:nvSpPr>
          <p:cNvPr id="9" name="TextBox 8"/>
          <p:cNvSpPr txBox="1"/>
          <p:nvPr/>
        </p:nvSpPr>
        <p:spPr>
          <a:xfrm>
            <a:off x="7626096" y="1600200"/>
            <a:ext cx="3886200" cy="457200"/>
          </a:xfrm>
          <a:prstGeom prst="rect">
            <a:avLst/>
          </a:prstGeom>
          <a:noFill/>
        </p:spPr>
        <p:txBody>
          <a:bodyPr wrap="square" anchor="ctr" lIns="0" rIns="0" tIns="0" bIns="0">
            <a:spAutoFit/>
          </a:bodyPr>
          <a:lstStyle/>
          <a:p>
            <a:pPr algn="l">
              <a:lnSpc>
                <a:spcPct val="105000"/>
              </a:lnSpc>
            </a:pPr>
            <a:r>
              <a:rPr sz="1100" b="1" spc="50">
                <a:solidFill>
                  <a:srgbClr val="25C6D2"/>
                </a:solidFill>
                <a:latin typeface="Consolas"/>
              </a:rPr>
              <a:t>BRAIN PARADIGM</a:t>
            </a:r>
          </a:p>
        </p:txBody>
      </p:sp>
      <p:sp>
        <p:nvSpPr>
          <p:cNvPr id="10" name="Rectangle 9"/>
          <p:cNvSpPr/>
          <p:nvPr/>
        </p:nvSpPr>
        <p:spPr>
          <a:xfrm>
            <a:off x="548640" y="2057400"/>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548640" y="2057400"/>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6656" y="2057400"/>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State</a:t>
            </a:r>
          </a:p>
        </p:txBody>
      </p:sp>
      <p:sp>
        <p:nvSpPr>
          <p:cNvPr id="13" name="TextBox 12"/>
          <p:cNvSpPr txBox="1"/>
          <p:nvPr/>
        </p:nvSpPr>
        <p:spPr>
          <a:xfrm>
            <a:off x="3419856" y="2057400"/>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stateless · re-reads full context</a:t>
            </a:r>
          </a:p>
        </p:txBody>
      </p:sp>
      <p:sp>
        <p:nvSpPr>
          <p:cNvPr id="14" name="TextBox 13"/>
          <p:cNvSpPr txBox="1"/>
          <p:nvPr/>
        </p:nvSpPr>
        <p:spPr>
          <a:xfrm>
            <a:off x="7626096" y="2057400"/>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persistent recurrent dynamics</a:t>
            </a:r>
          </a:p>
        </p:txBody>
      </p:sp>
      <p:sp>
        <p:nvSpPr>
          <p:cNvPr id="15" name="Rectangle 14"/>
          <p:cNvSpPr/>
          <p:nvPr/>
        </p:nvSpPr>
        <p:spPr>
          <a:xfrm>
            <a:off x="548640" y="2660904"/>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548640" y="2660904"/>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76656" y="2660904"/>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Memory</a:t>
            </a:r>
          </a:p>
        </p:txBody>
      </p:sp>
      <p:sp>
        <p:nvSpPr>
          <p:cNvPr id="18" name="TextBox 17"/>
          <p:cNvSpPr txBox="1"/>
          <p:nvPr/>
        </p:nvSpPr>
        <p:spPr>
          <a:xfrm>
            <a:off x="3419856" y="2660904"/>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external KV cache (grows with context)</a:t>
            </a:r>
          </a:p>
        </p:txBody>
      </p:sp>
      <p:sp>
        <p:nvSpPr>
          <p:cNvPr id="19" name="TextBox 18"/>
          <p:cNvSpPr txBox="1"/>
          <p:nvPr/>
        </p:nvSpPr>
        <p:spPr>
          <a:xfrm>
            <a:off x="7626096" y="2660904"/>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compressed into state + synapses</a:t>
            </a:r>
          </a:p>
        </p:txBody>
      </p:sp>
      <p:sp>
        <p:nvSpPr>
          <p:cNvPr id="20" name="Rectangle 19"/>
          <p:cNvSpPr/>
          <p:nvPr/>
        </p:nvSpPr>
        <p:spPr>
          <a:xfrm>
            <a:off x="548640" y="3264408"/>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548640" y="3264408"/>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76656" y="3264408"/>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Compute spent on</a:t>
            </a:r>
          </a:p>
        </p:txBody>
      </p:sp>
      <p:sp>
        <p:nvSpPr>
          <p:cNvPr id="23" name="TextBox 22"/>
          <p:cNvSpPr txBox="1"/>
          <p:nvPr/>
        </p:nvSpPr>
        <p:spPr>
          <a:xfrm>
            <a:off x="3419856" y="3264408"/>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dense all-pairs retrieval (QKᵀ)</a:t>
            </a:r>
          </a:p>
        </p:txBody>
      </p:sp>
      <p:sp>
        <p:nvSpPr>
          <p:cNvPr id="24" name="TextBox 23"/>
          <p:cNvSpPr txBox="1"/>
          <p:nvPr/>
        </p:nvSpPr>
        <p:spPr>
          <a:xfrm>
            <a:off x="7626096" y="3264408"/>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only prediction error (surprise)</a:t>
            </a:r>
          </a:p>
        </p:txBody>
      </p:sp>
      <p:sp>
        <p:nvSpPr>
          <p:cNvPr id="25" name="Rectangle 24"/>
          <p:cNvSpPr/>
          <p:nvPr/>
        </p:nvSpPr>
        <p:spPr>
          <a:xfrm>
            <a:off x="548640" y="3867912"/>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48640" y="3867912"/>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76656" y="3867912"/>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Learning</a:t>
            </a:r>
          </a:p>
        </p:txBody>
      </p:sp>
      <p:sp>
        <p:nvSpPr>
          <p:cNvPr id="28" name="TextBox 27"/>
          <p:cNvSpPr txBox="1"/>
          <p:nvPr/>
        </p:nvSpPr>
        <p:spPr>
          <a:xfrm>
            <a:off x="3419856" y="3867912"/>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offline · global backprop · huge data</a:t>
            </a:r>
          </a:p>
        </p:txBody>
      </p:sp>
      <p:sp>
        <p:nvSpPr>
          <p:cNvPr id="29" name="TextBox 28"/>
          <p:cNvSpPr txBox="1"/>
          <p:nvPr/>
        </p:nvSpPr>
        <p:spPr>
          <a:xfrm>
            <a:off x="7626096" y="3867912"/>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online · local plasticity · continual</a:t>
            </a:r>
          </a:p>
        </p:txBody>
      </p:sp>
      <p:sp>
        <p:nvSpPr>
          <p:cNvPr id="30" name="Rectangle 29"/>
          <p:cNvSpPr/>
          <p:nvPr/>
        </p:nvSpPr>
        <p:spPr>
          <a:xfrm>
            <a:off x="548640" y="4471416"/>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48640" y="4471416"/>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76656" y="4471416"/>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Source of intelligence</a:t>
            </a:r>
          </a:p>
        </p:txBody>
      </p:sp>
      <p:sp>
        <p:nvSpPr>
          <p:cNvPr id="33" name="TextBox 32"/>
          <p:cNvSpPr txBox="1"/>
          <p:nvPr/>
        </p:nvSpPr>
        <p:spPr>
          <a:xfrm>
            <a:off x="3419856" y="4471416"/>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scale + retrieval</a:t>
            </a:r>
          </a:p>
        </p:txBody>
      </p:sp>
      <p:sp>
        <p:nvSpPr>
          <p:cNvPr id="34" name="TextBox 33"/>
          <p:cNvSpPr txBox="1"/>
          <p:nvPr/>
        </p:nvSpPr>
        <p:spPr>
          <a:xfrm>
            <a:off x="7626096" y="4471416"/>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prediction + compression + action</a:t>
            </a:r>
          </a:p>
        </p:txBody>
      </p:sp>
      <p:sp>
        <p:nvSpPr>
          <p:cNvPr id="35" name="Rectangle 34"/>
          <p:cNvSpPr/>
          <p:nvPr/>
        </p:nvSpPr>
        <p:spPr>
          <a:xfrm>
            <a:off x="548640" y="5074920"/>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548640" y="5074920"/>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76656" y="5074920"/>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Cost on neuromorphic</a:t>
            </a:r>
          </a:p>
        </p:txBody>
      </p:sp>
      <p:sp>
        <p:nvSpPr>
          <p:cNvPr id="38" name="TextBox 37"/>
          <p:cNvSpPr txBox="1"/>
          <p:nvPr/>
        </p:nvSpPr>
        <p:spPr>
          <a:xfrm>
            <a:off x="3419856" y="5074920"/>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memory wall / dense MACs ✗</a:t>
            </a:r>
          </a:p>
        </p:txBody>
      </p:sp>
      <p:sp>
        <p:nvSpPr>
          <p:cNvPr id="39" name="TextBox 38"/>
          <p:cNvSpPr txBox="1"/>
          <p:nvPr/>
        </p:nvSpPr>
        <p:spPr>
          <a:xfrm>
            <a:off x="7626096" y="5074920"/>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event-driven, analog, local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03 · WHY THE BRAIN PAYS NEITHER COST</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04</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 brain violates the assumption behind our own bound</a:t>
            </a:r>
          </a:p>
        </p:txBody>
      </p:sp>
      <p:sp>
        <p:nvSpPr>
          <p:cNvPr id="6" name="TextBox 5"/>
          <p:cNvSpPr txBox="1"/>
          <p:nvPr/>
        </p:nvSpPr>
        <p:spPr>
          <a:xfrm>
            <a:off x="548640" y="1554480"/>
            <a:ext cx="10972800" cy="822960"/>
          </a:xfrm>
          <a:prstGeom prst="rect">
            <a:avLst/>
          </a:prstGeom>
          <a:noFill/>
        </p:spPr>
        <p:txBody>
          <a:bodyPr wrap="square" anchor="t" lIns="0" rIns="0" tIns="0" bIns="0">
            <a:spAutoFit/>
          </a:bodyPr>
          <a:lstStyle/>
          <a:p>
            <a:pPr algn="l">
              <a:lnSpc>
                <a:spcPct val="125000"/>
              </a:lnSpc>
            </a:pPr>
            <a:r>
              <a:rPr sz="1500" b="0">
                <a:solidFill>
                  <a:srgbClr val="93A0AE"/>
                </a:solidFill>
                <a:latin typeface="Arial"/>
              </a:rPr>
              <a:t>Our firing-floor bound  </a:t>
            </a:r>
            <a:r>
              <a:rPr sz="1500" b="1">
                <a:solidFill>
                  <a:srgbClr val="25C6D2"/>
                </a:solidFill>
                <a:latin typeface="Consolas"/>
              </a:rPr>
              <a:t>ρ ≥ Hᵇ⁻¹(log₂M / H)  </a:t>
            </a:r>
            <a:r>
              <a:rPr sz="1500" b="0">
                <a:solidFill>
                  <a:srgbClr val="93A0AE"/>
                </a:solidFill>
                <a:latin typeface="Arial"/>
              </a:rPr>
              <a:t>assumes information travels </a:t>
            </a:r>
            <a:r>
              <a:rPr sz="1500" b="1">
                <a:solidFill>
                  <a:srgbClr val="E7ECF2"/>
                </a:solidFill>
                <a:latin typeface="Arial"/>
              </a:rPr>
              <a:t>only in spikes</a:t>
            </a:r>
            <a:r>
              <a:rPr sz="1500" b="0">
                <a:solidFill>
                  <a:srgbClr val="93A0AE"/>
                </a:solidFill>
                <a:latin typeface="Arial"/>
              </a:rPr>
              <a:t>. The brain breaks exactly that assumption — three ways:</a:t>
            </a:r>
          </a:p>
        </p:txBody>
      </p:sp>
      <p:sp>
        <p:nvSpPr>
          <p:cNvPr id="7" name="Rounded Rectangle 6"/>
          <p:cNvSpPr/>
          <p:nvPr/>
        </p:nvSpPr>
        <p:spPr>
          <a:xfrm>
            <a:off x="548640"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Analog state, spikes for surprise</a:t>
            </a:r>
          </a:p>
        </p:txBody>
      </p:sp>
      <p:sp>
        <p:nvSpPr>
          <p:cNvPr id="10" name="TextBox 9"/>
          <p:cNvSpPr txBox="1"/>
          <p:nvPr/>
        </p:nvSpPr>
        <p:spPr>
          <a:xfrm>
            <a:off x="822959"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Memory lives in sub-threshold membrane + short-term synaptic state (activity-silent). Spikes signal only errors → escapes the firing floor AND the KV memory wall.</a:t>
            </a:r>
          </a:p>
        </p:txBody>
      </p:sp>
      <p:sp>
        <p:nvSpPr>
          <p:cNvPr id="11" name="Rounded Rectangle 10"/>
          <p:cNvSpPr/>
          <p:nvPr/>
        </p:nvSpPr>
        <p:spPr>
          <a:xfrm>
            <a:off x="4370831"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1"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5151"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Enormous H</a:t>
            </a:r>
          </a:p>
        </p:txBody>
      </p:sp>
      <p:sp>
        <p:nvSpPr>
          <p:cNvPr id="14" name="TextBox 13"/>
          <p:cNvSpPr txBox="1"/>
          <p:nvPr/>
        </p:nvSpPr>
        <p:spPr>
          <a:xfrm>
            <a:off x="4645151"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10¹¹ neurons → log₂M / H ≈ 0 → ρ_min → 0. Sparse distributed coding is nearly free in high dimension.</a:t>
            </a:r>
          </a:p>
        </p:txBody>
      </p:sp>
      <p:sp>
        <p:nvSpPr>
          <p:cNvPr id="15" name="Rounded Rectangle 14"/>
          <p:cNvSpPr/>
          <p:nvPr/>
        </p:nvSpPr>
        <p:spPr>
          <a:xfrm>
            <a:off x="8193023"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3"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67344"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Local, multi-timescale learning</a:t>
            </a:r>
          </a:p>
        </p:txBody>
      </p:sp>
      <p:sp>
        <p:nvSpPr>
          <p:cNvPr id="18" name="TextBox 17"/>
          <p:cNvSpPr txBox="1"/>
          <p:nvPr/>
        </p:nvSpPr>
        <p:spPr>
          <a:xfrm>
            <a:off x="8467344"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Fast spikes / slow synapses / neuromodulation; local plasticity, continual — no backprop through all of history.</a:t>
            </a:r>
          </a:p>
        </p:txBody>
      </p:sp>
      <p:sp>
        <p:nvSpPr>
          <p:cNvPr id="19" name="TextBox 18"/>
          <p:cNvSpPr txBox="1"/>
          <p:nvPr/>
        </p:nvSpPr>
        <p:spPr>
          <a:xfrm>
            <a:off x="548640" y="6016752"/>
            <a:ext cx="10972800" cy="365760"/>
          </a:xfrm>
          <a:prstGeom prst="rect">
            <a:avLst/>
          </a:prstGeom>
          <a:noFill/>
        </p:spPr>
        <p:txBody>
          <a:bodyPr wrap="square" anchor="t" lIns="0" rIns="0" tIns="0" bIns="0">
            <a:spAutoFit/>
          </a:bodyPr>
          <a:lstStyle/>
          <a:p>
            <a:pPr algn="l">
              <a:lnSpc>
                <a:spcPct val="110000"/>
              </a:lnSpc>
            </a:pPr>
            <a:r>
              <a:rPr sz="1300" b="0">
                <a:solidFill>
                  <a:srgbClr val="93A0AE"/>
                </a:solidFill>
                <a:latin typeface="Arial"/>
              </a:rPr>
              <a:t>⇒ The brain is the </a:t>
            </a:r>
            <a:r>
              <a:rPr sz="1300" b="1">
                <a:solidFill>
                  <a:srgbClr val="9B8CFF"/>
                </a:solidFill>
                <a:latin typeface="Arial"/>
              </a:rPr>
              <a:t>existence proof</a:t>
            </a:r>
            <a:r>
              <a:rPr sz="1300" b="0">
                <a:solidFill>
                  <a:srgbClr val="E7ECF2"/>
                </a:solidFill>
                <a:latin typeface="Arial"/>
              </a:rPr>
              <a:t>: general intelligence at 20 W, ~1000× more efficient than GPUs — via prediction + sparsity + locality, not attention.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04 · THE LANDSCAPE OF NON-ATTENTION PARADIGMS</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05</a:t>
            </a:r>
          </a:p>
        </p:txBody>
      </p:sp>
      <p:sp>
        <p:nvSpPr>
          <p:cNvPr id="5" name="TextBox 4"/>
          <p:cNvSpPr txBox="1"/>
          <p:nvPr/>
        </p:nvSpPr>
        <p:spPr>
          <a:xfrm>
            <a:off x="548640" y="749808"/>
            <a:ext cx="10972800" cy="457200"/>
          </a:xfrm>
          <a:prstGeom prst="rect">
            <a:avLst/>
          </a:prstGeom>
          <a:noFill/>
        </p:spPr>
        <p:txBody>
          <a:bodyPr wrap="square" anchor="t" lIns="0" rIns="0" tIns="0" bIns="0">
            <a:spAutoFit/>
          </a:bodyPr>
          <a:lstStyle/>
          <a:p>
            <a:pPr algn="l">
              <a:lnSpc>
                <a:spcPct val="105000"/>
              </a:lnSpc>
            </a:pPr>
            <a:r>
              <a:rPr sz="2200" b="1">
                <a:solidFill>
                  <a:srgbClr val="E7ECF2"/>
                </a:solidFill>
                <a:latin typeface="Arial"/>
              </a:rPr>
              <a:t>Six paradigms that reach intelligence without dense attention</a:t>
            </a:r>
          </a:p>
        </p:txBody>
      </p:sp>
      <p:sp>
        <p:nvSpPr>
          <p:cNvPr id="6" name="Rectangle 5"/>
          <p:cNvSpPr/>
          <p:nvPr/>
        </p:nvSpPr>
        <p:spPr>
          <a:xfrm>
            <a:off x="548640" y="1417320"/>
            <a:ext cx="11091672" cy="420624"/>
          </a:xfrm>
          <a:prstGeom prst="rect">
            <a:avLst/>
          </a:prstGeom>
          <a:solidFill>
            <a:srgbClr val="1F2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417320"/>
            <a:ext cx="2148839"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PARADIGM</a:t>
            </a:r>
          </a:p>
        </p:txBody>
      </p:sp>
      <p:sp>
        <p:nvSpPr>
          <p:cNvPr id="8" name="TextBox 7"/>
          <p:cNvSpPr txBox="1"/>
          <p:nvPr/>
        </p:nvSpPr>
        <p:spPr>
          <a:xfrm>
            <a:off x="2990088" y="1417320"/>
            <a:ext cx="4389120"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CORE MECHANISM</a:t>
            </a:r>
          </a:p>
        </p:txBody>
      </p:sp>
      <p:sp>
        <p:nvSpPr>
          <p:cNvPr id="9" name="TextBox 8"/>
          <p:cNvSpPr txBox="1"/>
          <p:nvPr/>
        </p:nvSpPr>
        <p:spPr>
          <a:xfrm>
            <a:off x="7562088" y="1417320"/>
            <a:ext cx="457199" cy="420624"/>
          </a:xfrm>
          <a:prstGeom prst="rect">
            <a:avLst/>
          </a:prstGeom>
          <a:noFill/>
        </p:spPr>
        <p:txBody>
          <a:bodyPr wrap="square" anchor="ctr" lIns="0" rIns="0" tIns="0" bIns="0">
            <a:spAutoFit/>
          </a:bodyPr>
          <a:lstStyle/>
          <a:p>
            <a:pPr algn="ctr">
              <a:lnSpc>
                <a:spcPct val="105000"/>
              </a:lnSpc>
            </a:pPr>
            <a:r>
              <a:rPr sz="1000" b="1" spc="40">
                <a:solidFill>
                  <a:srgbClr val="93A0AE"/>
                </a:solidFill>
                <a:latin typeface="Consolas"/>
              </a:rPr>
              <a:t>FIT</a:t>
            </a:r>
          </a:p>
        </p:txBody>
      </p:sp>
      <p:sp>
        <p:nvSpPr>
          <p:cNvPr id="10" name="TextBox 9"/>
          <p:cNvSpPr txBox="1"/>
          <p:nvPr/>
        </p:nvSpPr>
        <p:spPr>
          <a:xfrm>
            <a:off x="8202167" y="1417320"/>
            <a:ext cx="3364991"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REPRESENTATIVE WORK (2024–26)</a:t>
            </a:r>
          </a:p>
        </p:txBody>
      </p:sp>
      <p:sp>
        <p:nvSpPr>
          <p:cNvPr id="11" name="Rectangle 10"/>
          <p:cNvSpPr/>
          <p:nvPr/>
        </p:nvSpPr>
        <p:spPr>
          <a:xfrm>
            <a:off x="548640" y="1837944"/>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548640" y="1837944"/>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1837944"/>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Predictive coding</a:t>
            </a:r>
          </a:p>
        </p:txBody>
      </p:sp>
      <p:sp>
        <p:nvSpPr>
          <p:cNvPr id="14" name="TextBox 13"/>
          <p:cNvSpPr txBox="1"/>
          <p:nvPr/>
        </p:nvSpPr>
        <p:spPr>
          <a:xfrm>
            <a:off x="2990088" y="1837944"/>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hierarchical generative model; propagate only errors; local ≈ backprop</a:t>
            </a:r>
          </a:p>
        </p:txBody>
      </p:sp>
      <p:sp>
        <p:nvSpPr>
          <p:cNvPr id="15" name="TextBox 14"/>
          <p:cNvSpPr txBox="1"/>
          <p:nvPr/>
        </p:nvSpPr>
        <p:spPr>
          <a:xfrm>
            <a:off x="7562088" y="1837944"/>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16" name="TextBox 15"/>
          <p:cNvSpPr txBox="1"/>
          <p:nvPr/>
        </p:nvSpPr>
        <p:spPr>
          <a:xfrm>
            <a:off x="8202167" y="1837944"/>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Millidge+22; Salvatori/Song ICLR’24</a:t>
            </a:r>
          </a:p>
        </p:txBody>
      </p:sp>
      <p:sp>
        <p:nvSpPr>
          <p:cNvPr id="17" name="Rectangle 16"/>
          <p:cNvSpPr/>
          <p:nvPr/>
        </p:nvSpPr>
        <p:spPr>
          <a:xfrm>
            <a:off x="548640" y="2551176"/>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548640" y="2551176"/>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2551176"/>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Equilibrium propagation</a:t>
            </a:r>
          </a:p>
        </p:txBody>
      </p:sp>
      <p:sp>
        <p:nvSpPr>
          <p:cNvPr id="20" name="TextBox 19"/>
          <p:cNvSpPr txBox="1"/>
          <p:nvPr/>
        </p:nvSpPr>
        <p:spPr>
          <a:xfrm>
            <a:off x="2990088" y="2551176"/>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relax to energy minimum; local weight updates; analog-native</a:t>
            </a:r>
          </a:p>
        </p:txBody>
      </p:sp>
      <p:sp>
        <p:nvSpPr>
          <p:cNvPr id="21" name="TextBox 20"/>
          <p:cNvSpPr txBox="1"/>
          <p:nvPr/>
        </p:nvSpPr>
        <p:spPr>
          <a:xfrm>
            <a:off x="7562088" y="2551176"/>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22" name="TextBox 21"/>
          <p:cNvSpPr txBox="1"/>
          <p:nvPr/>
        </p:nvSpPr>
        <p:spPr>
          <a:xfrm>
            <a:off x="8202167" y="2551176"/>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EqSpike; ImageNet-EP ’26; −10⁴ train energy</a:t>
            </a:r>
          </a:p>
        </p:txBody>
      </p:sp>
      <p:sp>
        <p:nvSpPr>
          <p:cNvPr id="23" name="Rectangle 22"/>
          <p:cNvSpPr/>
          <p:nvPr/>
        </p:nvSpPr>
        <p:spPr>
          <a:xfrm>
            <a:off x="548640" y="3264408"/>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548640" y="3264408"/>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3264408"/>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Analog / spiking SSM</a:t>
            </a:r>
          </a:p>
        </p:txBody>
      </p:sp>
      <p:sp>
        <p:nvSpPr>
          <p:cNvPr id="26" name="TextBox 25"/>
          <p:cNvSpPr txBox="1"/>
          <p:nvPr/>
        </p:nvSpPr>
        <p:spPr>
          <a:xfrm>
            <a:off x="2990088" y="3264408"/>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linear recurrence, no KV cache, O(L); state in analog dynamics</a:t>
            </a:r>
          </a:p>
        </p:txBody>
      </p:sp>
      <p:sp>
        <p:nvSpPr>
          <p:cNvPr id="27" name="TextBox 26"/>
          <p:cNvSpPr txBox="1"/>
          <p:nvPr/>
        </p:nvSpPr>
        <p:spPr>
          <a:xfrm>
            <a:off x="7562088" y="3264408"/>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28" name="TextBox 27"/>
          <p:cNvSpPr txBox="1"/>
          <p:nvPr/>
        </p:nvSpPr>
        <p:spPr>
          <a:xfrm>
            <a:off x="8202167" y="3264408"/>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Mamba; SpikingMamba; SpikySpace ’26</a:t>
            </a:r>
          </a:p>
        </p:txBody>
      </p:sp>
      <p:sp>
        <p:nvSpPr>
          <p:cNvPr id="29" name="Rectangle 28"/>
          <p:cNvSpPr/>
          <p:nvPr/>
        </p:nvSpPr>
        <p:spPr>
          <a:xfrm>
            <a:off x="548640" y="3977639"/>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548640" y="3977639"/>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8368" y="3977639"/>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World models / JEPA</a:t>
            </a:r>
          </a:p>
        </p:txBody>
      </p:sp>
      <p:sp>
        <p:nvSpPr>
          <p:cNvPr id="32" name="TextBox 31"/>
          <p:cNvSpPr txBox="1"/>
          <p:nvPr/>
        </p:nvSpPr>
        <p:spPr>
          <a:xfrm>
            <a:off x="2990088" y="3977639"/>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predict in latent space (not tokens/pixels); plan by simulation</a:t>
            </a:r>
          </a:p>
        </p:txBody>
      </p:sp>
      <p:sp>
        <p:nvSpPr>
          <p:cNvPr id="33" name="TextBox 32"/>
          <p:cNvSpPr txBox="1"/>
          <p:nvPr/>
        </p:nvSpPr>
        <p:spPr>
          <a:xfrm>
            <a:off x="7562088" y="3977639"/>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34" name="TextBox 33"/>
          <p:cNvSpPr txBox="1"/>
          <p:nvPr/>
        </p:nvSpPr>
        <p:spPr>
          <a:xfrm>
            <a:off x="8202167" y="3977639"/>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LeCun V-JEPA 2; LeJEPA ’25</a:t>
            </a:r>
          </a:p>
        </p:txBody>
      </p:sp>
      <p:sp>
        <p:nvSpPr>
          <p:cNvPr id="35" name="Rectangle 34"/>
          <p:cNvSpPr/>
          <p:nvPr/>
        </p:nvSpPr>
        <p:spPr>
          <a:xfrm>
            <a:off x="548640" y="4690872"/>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548640" y="4690872"/>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58368" y="4690872"/>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Associative / Hopfield</a:t>
            </a:r>
          </a:p>
        </p:txBody>
      </p:sp>
      <p:sp>
        <p:nvSpPr>
          <p:cNvPr id="38" name="TextBox 37"/>
          <p:cNvSpPr txBox="1"/>
          <p:nvPr/>
        </p:nvSpPr>
        <p:spPr>
          <a:xfrm>
            <a:off x="2990088" y="4690872"/>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content-addressable attractor retrieval = attention as dynamics</a:t>
            </a:r>
          </a:p>
        </p:txBody>
      </p:sp>
      <p:sp>
        <p:nvSpPr>
          <p:cNvPr id="39" name="TextBox 38"/>
          <p:cNvSpPr txBox="1"/>
          <p:nvPr/>
        </p:nvSpPr>
        <p:spPr>
          <a:xfrm>
            <a:off x="7562088" y="4690872"/>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40" name="TextBox 39"/>
          <p:cNvSpPr txBox="1"/>
          <p:nvPr/>
        </p:nvSpPr>
        <p:spPr>
          <a:xfrm>
            <a:off x="8202167" y="4690872"/>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Ramsauer; Hopfield–Fenchel–Young ’24</a:t>
            </a:r>
          </a:p>
        </p:txBody>
      </p:sp>
      <p:sp>
        <p:nvSpPr>
          <p:cNvPr id="41" name="Rectangle 40"/>
          <p:cNvSpPr/>
          <p:nvPr/>
        </p:nvSpPr>
        <p:spPr>
          <a:xfrm>
            <a:off x="548640" y="5404104"/>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548640" y="5404104"/>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58368" y="5404104"/>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Active inference</a:t>
            </a:r>
          </a:p>
        </p:txBody>
      </p:sp>
      <p:sp>
        <p:nvSpPr>
          <p:cNvPr id="44" name="TextBox 43"/>
          <p:cNvSpPr txBox="1"/>
          <p:nvPr/>
        </p:nvSpPr>
        <p:spPr>
          <a:xfrm>
            <a:off x="2990088" y="5404104"/>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minimize expected surprise; perception–action loop; embodied</a:t>
            </a:r>
          </a:p>
        </p:txBody>
      </p:sp>
      <p:sp>
        <p:nvSpPr>
          <p:cNvPr id="45" name="TextBox 44"/>
          <p:cNvSpPr txBox="1"/>
          <p:nvPr/>
        </p:nvSpPr>
        <p:spPr>
          <a:xfrm>
            <a:off x="7562088" y="5404104"/>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46" name="TextBox 45"/>
          <p:cNvSpPr txBox="1"/>
          <p:nvPr/>
        </p:nvSpPr>
        <p:spPr>
          <a:xfrm>
            <a:off x="8202167" y="5404104"/>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Friston; scale-free active inference ’25</a:t>
            </a:r>
          </a:p>
        </p:txBody>
      </p:sp>
      <p:sp>
        <p:nvSpPr>
          <p:cNvPr id="47" name="TextBox 46"/>
          <p:cNvSpPr txBox="1"/>
          <p:nvPr/>
        </p:nvSpPr>
        <p:spPr>
          <a:xfrm>
            <a:off x="548640" y="6227064"/>
            <a:ext cx="10972800" cy="274320"/>
          </a:xfrm>
          <a:prstGeom prst="rect">
            <a:avLst/>
          </a:prstGeom>
          <a:noFill/>
        </p:spPr>
        <p:txBody>
          <a:bodyPr wrap="square" anchor="t" lIns="0" rIns="0" tIns="0" bIns="0">
            <a:spAutoFit/>
          </a:bodyPr>
          <a:lstStyle/>
          <a:p>
            <a:pPr algn="l">
              <a:lnSpc>
                <a:spcPct val="105000"/>
              </a:lnSpc>
            </a:pPr>
            <a:r>
              <a:rPr sz="1000" b="0">
                <a:solidFill>
                  <a:srgbClr val="667280"/>
                </a:solidFill>
                <a:latin typeface="Consolas"/>
              </a:rPr>
              <a:t>✓✓ = neuromorphic physics is an advantage (analog, event-driven, local)   ·   ✓ = algorithmic fit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05 · THE BET</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06</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Where I would place neuromorphic intelligence</a:t>
            </a:r>
          </a:p>
        </p:txBody>
      </p:sp>
      <p:sp>
        <p:nvSpPr>
          <p:cNvPr id="6" name="Rounded Rectangle 5"/>
          <p:cNvSpPr/>
          <p:nvPr/>
        </p:nvSpPr>
        <p:spPr>
          <a:xfrm>
            <a:off x="548640" y="1600200"/>
            <a:ext cx="11064240" cy="1417320"/>
          </a:xfrm>
          <a:prstGeom prst="roundRect">
            <a:avLst>
              <a:gd name="adj" fmla="val 8000"/>
            </a:avLst>
          </a:prstGeom>
          <a:solidFill>
            <a:srgbClr val="102A2C"/>
          </a:solidFill>
          <a:ln w="15875">
            <a:solidFill>
              <a:srgbClr val="25C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83080"/>
            <a:ext cx="10424160" cy="1097280"/>
          </a:xfrm>
          <a:prstGeom prst="rect">
            <a:avLst/>
          </a:prstGeom>
          <a:noFill/>
        </p:spPr>
        <p:txBody>
          <a:bodyPr wrap="square" anchor="t" lIns="0" rIns="0" tIns="0" bIns="0">
            <a:spAutoFit/>
          </a:bodyPr>
          <a:lstStyle/>
          <a:p>
            <a:pPr algn="l">
              <a:lnSpc>
                <a:spcPct val="120000"/>
              </a:lnSpc>
            </a:pPr>
            <a:r>
              <a:rPr sz="1900" b="1">
                <a:solidFill>
                  <a:srgbClr val="E7ECF2"/>
                </a:solidFill>
                <a:latin typeface="Arial"/>
              </a:rPr>
              <a:t>A predictive world-model held in analog recurrent dynamics,
</a:t>
            </a:r>
            <a:r>
              <a:rPr sz="1400" b="0">
                <a:solidFill>
                  <a:srgbClr val="93A0AE"/>
                </a:solidFill>
                <a:latin typeface="Arial"/>
              </a:rPr>
              <a:t>learned locally &amp; online (predictive coding / equilibrium propagation), acting in a closed loop — spikes carry only surprise.</a:t>
            </a:r>
          </a:p>
        </p:txBody>
      </p:sp>
      <p:sp>
        <p:nvSpPr>
          <p:cNvPr id="8" name="TextBox 7"/>
          <p:cNvSpPr txBox="1"/>
          <p:nvPr/>
        </p:nvSpPr>
        <p:spPr>
          <a:xfrm>
            <a:off x="548640" y="3291840"/>
            <a:ext cx="10972800" cy="457200"/>
          </a:xfrm>
          <a:prstGeom prst="rect">
            <a:avLst/>
          </a:prstGeom>
          <a:noFill/>
        </p:spPr>
        <p:txBody>
          <a:bodyPr wrap="square" anchor="t" lIns="0" rIns="0" tIns="0" bIns="0">
            <a:spAutoFit/>
          </a:bodyPr>
          <a:lstStyle/>
          <a:p>
            <a:pPr algn="l">
              <a:lnSpc>
                <a:spcPct val="105000"/>
              </a:lnSpc>
            </a:pPr>
            <a:r>
              <a:rPr sz="1500" b="1">
                <a:solidFill>
                  <a:srgbClr val="E7ECF2"/>
                </a:solidFill>
                <a:latin typeface="Arial"/>
              </a:rPr>
              <a:t>Why this is not “settling” — the hardware–paradigm alignment:</a:t>
            </a:r>
          </a:p>
        </p:txBody>
      </p:sp>
      <p:sp>
        <p:nvSpPr>
          <p:cNvPr id="9" name="Rectangle 8"/>
          <p:cNvSpPr/>
          <p:nvPr/>
        </p:nvSpPr>
        <p:spPr>
          <a:xfrm>
            <a:off x="548640" y="38862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8404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Analog state escapes both traps</a:t>
            </a:r>
          </a:p>
        </p:txBody>
      </p:sp>
      <p:sp>
        <p:nvSpPr>
          <p:cNvPr id="11" name="TextBox 10"/>
          <p:cNvSpPr txBox="1"/>
          <p:nvPr/>
        </p:nvSpPr>
        <p:spPr>
          <a:xfrm>
            <a:off x="6126480" y="38404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memory in membranes/synapses, not a KV cache → no memory wall; the firing floor is a spiking-state property (the bound itself: theory, scope limit tested)</a:t>
            </a:r>
          </a:p>
        </p:txBody>
      </p:sp>
      <p:sp>
        <p:nvSpPr>
          <p:cNvPr id="12" name="Rectangle 11"/>
          <p:cNvSpPr/>
          <p:nvPr/>
        </p:nvSpPr>
        <p:spPr>
          <a:xfrm>
            <a:off x="548640" y="45720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5262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Event-driven = compute only on surprise</a:t>
            </a:r>
          </a:p>
        </p:txBody>
      </p:sp>
      <p:sp>
        <p:nvSpPr>
          <p:cNvPr id="14" name="TextBox 13"/>
          <p:cNvSpPr txBox="1"/>
          <p:nvPr/>
        </p:nvSpPr>
        <p:spPr>
          <a:xfrm>
            <a:off x="6126480" y="45262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predictive coding's error-only propagation IS event-driven — native to spiking silicon</a:t>
            </a:r>
          </a:p>
        </p:txBody>
      </p:sp>
      <p:sp>
        <p:nvSpPr>
          <p:cNvPr id="15" name="Rectangle 14"/>
          <p:cNvSpPr/>
          <p:nvPr/>
        </p:nvSpPr>
        <p:spPr>
          <a:xfrm>
            <a:off x="548640" y="52578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2120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Local plasticity = on-chip learning</a:t>
            </a:r>
          </a:p>
        </p:txBody>
      </p:sp>
      <p:sp>
        <p:nvSpPr>
          <p:cNvPr id="17" name="TextBox 16"/>
          <p:cNvSpPr txBox="1"/>
          <p:nvPr/>
        </p:nvSpPr>
        <p:spPr>
          <a:xfrm>
            <a:off x="6126480" y="52120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EqProp/PC learn with local rules → training without global backprop, ~10⁴ less energy</a:t>
            </a:r>
          </a:p>
        </p:txBody>
      </p:sp>
      <p:sp>
        <p:nvSpPr>
          <p:cNvPr id="18" name="Rectangle 17"/>
          <p:cNvSpPr/>
          <p:nvPr/>
        </p:nvSpPr>
        <p:spPr>
          <a:xfrm>
            <a:off x="548640" y="59436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8978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Recurrence + search = reasoning</a:t>
            </a:r>
          </a:p>
        </p:txBody>
      </p:sp>
      <p:sp>
        <p:nvSpPr>
          <p:cNvPr id="20" name="TextBox 19"/>
          <p:cNvSpPr txBox="1"/>
          <p:nvPr/>
        </p:nvSpPr>
        <p:spPr>
          <a:xfrm>
            <a:off x="6126480" y="58978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test-time compute via iterated simulation/planning, not a giant single forward pass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E0A05A"/>
                </a:solidFill>
                <a:latin typeface="Consolas"/>
              </a:rPr>
              <a:t>06 · HONEST FRONTIER</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07</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 uncomfortable truth — and why it's still the right bet</a:t>
            </a:r>
          </a:p>
        </p:txBody>
      </p:sp>
      <p:sp>
        <p:nvSpPr>
          <p:cNvPr id="6" name="Rounded Rectangle 5"/>
          <p:cNvSpPr/>
          <p:nvPr/>
        </p:nvSpPr>
        <p:spPr>
          <a:xfrm>
            <a:off x="548640" y="1600200"/>
            <a:ext cx="5486400" cy="393192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4937760" cy="365760"/>
          </a:xfrm>
          <a:prstGeom prst="rect">
            <a:avLst/>
          </a:prstGeom>
          <a:noFill/>
        </p:spPr>
        <p:txBody>
          <a:bodyPr wrap="square" anchor="t" lIns="0" rIns="0" tIns="0" bIns="0">
            <a:spAutoFit/>
          </a:bodyPr>
          <a:lstStyle/>
          <a:p>
            <a:pPr algn="l">
              <a:lnSpc>
                <a:spcPct val="105000"/>
              </a:lnSpc>
            </a:pPr>
            <a:r>
              <a:rPr sz="1200" b="1" spc="60">
                <a:solidFill>
                  <a:srgbClr val="F06A5F"/>
                </a:solidFill>
                <a:latin typeface="Consolas"/>
              </a:rPr>
              <a:t>NONE HAS BEATEN TRANSFORMERS</a:t>
            </a:r>
          </a:p>
        </p:txBody>
      </p:sp>
      <p:sp>
        <p:nvSpPr>
          <p:cNvPr id="8" name="TextBox 7"/>
          <p:cNvSpPr txBox="1"/>
          <p:nvPr/>
        </p:nvSpPr>
        <p:spPr>
          <a:xfrm>
            <a:off x="822960" y="2331720"/>
            <a:ext cx="4983480" cy="3017520"/>
          </a:xfrm>
          <a:prstGeom prst="rect">
            <a:avLst/>
          </a:prstGeom>
          <a:noFill/>
        </p:spPr>
        <p:txBody>
          <a:bodyPr wrap="square" anchor="t" lIns="0" rIns="0" tIns="0" bIns="0">
            <a:spAutoFit/>
          </a:bodyPr>
          <a:lstStyle/>
          <a:p>
            <a:pPr algn="l">
              <a:lnSpc>
                <a:spcPct val="130000"/>
              </a:lnSpc>
            </a:pPr>
            <a:r>
              <a:rPr sz="1400" b="0">
                <a:solidFill>
                  <a:srgbClr val="93A0AE"/>
                </a:solidFill>
                <a:latin typeface="Arial"/>
              </a:rPr>
              <a:t>Predictive coding, EqProp, SSMs, Hopfield, JEPA, active inference — all promising, all more brain-like, </a:t>
            </a:r>
            <a:r>
              <a:rPr sz="1400" b="1">
                <a:solidFill>
                  <a:srgbClr val="E7ECF2"/>
                </a:solidFill>
                <a:latin typeface="Arial"/>
              </a:rPr>
              <a:t>none has yet produced GPT-class general capability.</a:t>
            </a:r>
            <a:r>
              <a:rPr sz="1400" b="0">
                <a:solidFill>
                  <a:srgbClr val="93A0AE"/>
                </a:solidFill>
                <a:latin typeface="Arial"/>
              </a:rPr>
              <a:t>
This is a research bet, not a solved alternative. It should be stated as such.</a:t>
            </a:r>
          </a:p>
        </p:txBody>
      </p:sp>
      <p:sp>
        <p:nvSpPr>
          <p:cNvPr id="9" name="Rounded Rectangle 8"/>
          <p:cNvSpPr/>
          <p:nvPr/>
        </p:nvSpPr>
        <p:spPr>
          <a:xfrm>
            <a:off x="6263640" y="1600200"/>
            <a:ext cx="5349240" cy="393192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00200"/>
            <a:ext cx="54864" cy="3931920"/>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874519"/>
            <a:ext cx="4846320" cy="365760"/>
          </a:xfrm>
          <a:prstGeom prst="rect">
            <a:avLst/>
          </a:prstGeom>
          <a:noFill/>
        </p:spPr>
        <p:txBody>
          <a:bodyPr wrap="square" anchor="t" lIns="0" rIns="0" tIns="0" bIns="0">
            <a:spAutoFit/>
          </a:bodyPr>
          <a:lstStyle/>
          <a:p>
            <a:pPr algn="l">
              <a:lnSpc>
                <a:spcPct val="105000"/>
              </a:lnSpc>
            </a:pPr>
            <a:r>
              <a:rPr sz="1200" b="1" spc="60">
                <a:solidFill>
                  <a:srgbClr val="9B8CFF"/>
                </a:solidFill>
                <a:latin typeface="Consolas"/>
              </a:rPr>
              <a:t>BUT THERE IS AN EXISTENCE PROOF</a:t>
            </a:r>
          </a:p>
        </p:txBody>
      </p:sp>
      <p:sp>
        <p:nvSpPr>
          <p:cNvPr id="12" name="TextBox 11"/>
          <p:cNvSpPr txBox="1"/>
          <p:nvPr/>
        </p:nvSpPr>
        <p:spPr>
          <a:xfrm>
            <a:off x="6583680" y="2331720"/>
            <a:ext cx="4846320" cy="3017520"/>
          </a:xfrm>
          <a:prstGeom prst="rect">
            <a:avLst/>
          </a:prstGeom>
          <a:noFill/>
        </p:spPr>
        <p:txBody>
          <a:bodyPr wrap="square" anchor="t" lIns="0" rIns="0" tIns="0" bIns="0">
            <a:spAutoFit/>
          </a:bodyPr>
          <a:lstStyle/>
          <a:p>
            <a:pPr algn="l">
              <a:lnSpc>
                <a:spcPct val="130000"/>
              </a:lnSpc>
            </a:pPr>
            <a:r>
              <a:rPr sz="1400" b="0">
                <a:solidFill>
                  <a:srgbClr val="93A0AE"/>
                </a:solidFill>
                <a:latin typeface="Arial"/>
              </a:rPr>
              <a:t>The brain runs general intelligence on </a:t>
            </a:r>
            <a:r>
              <a:rPr sz="1400" b="1">
                <a:solidFill>
                  <a:srgbClr val="9B8CFF"/>
                </a:solidFill>
                <a:latin typeface="Arial"/>
              </a:rPr>
              <a:t>20 watts</a:t>
            </a:r>
            <a:r>
              <a:rPr sz="1400" b="0">
                <a:solidFill>
                  <a:srgbClr val="93A0AE"/>
                </a:solidFill>
                <a:latin typeface="Arial"/>
              </a:rPr>
              <a:t>, ~1000× more efficient than GPUs — using exactly this paradigm: prediction, sparsity, locality, embodiment.</a:t>
            </a:r>
            <a:r>
              <a:rPr sz="1400" b="1">
                <a:solidFill>
                  <a:srgbClr val="E7ECF2"/>
                </a:solidFill>
                <a:latin typeface="Arial"/>
              </a:rPr>
              <a:t>
So the paradigm demonstrably CAN reach general intelligence. We just haven't reproduced it. </a:t>
            </a:r>
            <a:r>
              <a:rPr sz="1400" b="0">
                <a:solidFill>
                  <a:srgbClr val="93A0AE"/>
                </a:solidFill>
                <a:latin typeface="Arial"/>
              </a:rPr>
              <a:t>That gap is the open frontier — and the reason to work on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07 · SSM RESULTS</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08</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Direction One, run: what the analog-state SSM actually did</a:t>
            </a:r>
          </a:p>
        </p:txBody>
      </p:sp>
      <p:sp>
        <p:nvSpPr>
          <p:cNvPr id="6" name="Rounded Rectangle 5"/>
          <p:cNvSpPr/>
          <p:nvPr/>
        </p:nvSpPr>
        <p:spPr>
          <a:xfrm>
            <a:off x="548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01</a:t>
            </a:r>
          </a:p>
        </p:txBody>
      </p:sp>
      <p:sp>
        <p:nvSpPr>
          <p:cNvPr id="8" name="TextBox 7"/>
          <p:cNvSpPr txBox="1"/>
          <p:nvPr/>
        </p:nvSpPr>
        <p:spPr>
          <a:xfrm>
            <a:off x="1508760"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Analog state buys energy, not quality</a:t>
            </a:r>
          </a:p>
        </p:txBody>
      </p:sp>
      <p:sp>
        <p:nvSpPr>
          <p:cNvPr id="9" name="TextBox 8"/>
          <p:cNvSpPr txBox="1"/>
          <p:nvPr/>
        </p:nvSpPr>
        <p:spPr>
          <a:xfrm>
            <a:off x="1508760"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Param-matched 4-way SSM, char-LM, 3 seeds: analog state cuts proxy energy 1.60× (446k vs 712k pJ/token) for +0.160 bpc. “Beats digital” is retracted — the same noise on the digital baseline is worth −0.309 bpc.</a:t>
            </a:r>
          </a:p>
        </p:txBody>
      </p:sp>
      <p:sp>
        <p:nvSpPr>
          <p:cNvPr id="10" name="Rounded Rectangle 9"/>
          <p:cNvSpPr/>
          <p:nvPr/>
        </p:nvSpPr>
        <p:spPr>
          <a:xfrm>
            <a:off x="6263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02</a:t>
            </a:r>
          </a:p>
        </p:txBody>
      </p:sp>
      <p:sp>
        <p:nvSpPr>
          <p:cNvPr id="12" name="TextBox 11"/>
          <p:cNvSpPr txBox="1"/>
          <p:nvPr/>
        </p:nvSpPr>
        <p:spPr>
          <a:xfrm>
            <a:off x="7223759"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The variant ranking inverts by workload</a:t>
            </a:r>
          </a:p>
        </p:txBody>
      </p:sp>
      <p:sp>
        <p:nvSpPr>
          <p:cNvPr id="13" name="TextBox 12"/>
          <p:cNvSpPr txBox="1"/>
          <p:nvPr/>
        </p:nvSpPr>
        <p:spPr>
          <a:xfrm>
            <a:off x="7223759"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At matched communication rate the order inverts: char-LM analog ≪ spiking-state ≪ output-spiking; precise recall (copy) the reverse — margin kept 0.87 / 0.50 / 0.074. A 1-bit state is at exactly chance, and cheapest.</a:t>
            </a:r>
          </a:p>
        </p:txBody>
      </p:sp>
      <p:sp>
        <p:nvSpPr>
          <p:cNvPr id="14" name="Rounded Rectangle 13"/>
          <p:cNvSpPr/>
          <p:nvPr/>
        </p:nvSpPr>
        <p:spPr>
          <a:xfrm>
            <a:off x="548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03</a:t>
            </a:r>
          </a:p>
        </p:txBody>
      </p:sp>
      <p:sp>
        <p:nvSpPr>
          <p:cNvPr id="16" name="TextBox 15"/>
          <p:cNvSpPr txBox="1"/>
          <p:nvPr/>
        </p:nvSpPr>
        <p:spPr>
          <a:xfrm>
            <a:off x="1508760"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Degrade what the task ignores</a:t>
            </a:r>
          </a:p>
        </p:txBody>
      </p:sp>
      <p:sp>
        <p:nvSpPr>
          <p:cNvPr id="17" name="TextBox 16"/>
          <p:cNvSpPr txBox="1"/>
          <p:nvPr/>
        </p:nvSpPr>
        <p:spPr>
          <a:xfrm>
            <a:off x="1508760"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One principle covers both: a degradation is cheap only where the loss does not depend on it. The same 6-bit state quantizer costs −0.002 bpc on char-LM and +0.37 on copy (post-hoc, not pre-registered).</a:t>
            </a:r>
          </a:p>
        </p:txBody>
      </p:sp>
      <p:sp>
        <p:nvSpPr>
          <p:cNvPr id="18" name="Rounded Rectangle 17"/>
          <p:cNvSpPr/>
          <p:nvPr/>
        </p:nvSpPr>
        <p:spPr>
          <a:xfrm>
            <a:off x="6263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04</a:t>
            </a:r>
          </a:p>
        </p:txBody>
      </p:sp>
      <p:sp>
        <p:nvSpPr>
          <p:cNvPr id="20" name="TextBox 19"/>
          <p:cNvSpPr txBox="1"/>
          <p:nvPr/>
        </p:nvSpPr>
        <p:spPr>
          <a:xfrm>
            <a:off x="7223759"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My own bound did not survive its test</a:t>
            </a:r>
          </a:p>
        </p:txBody>
      </p:sp>
      <p:sp>
        <p:nvSpPr>
          <p:cNvPr id="21" name="TextBox 20"/>
          <p:cNvSpPr txBox="1"/>
          <p:nvPr/>
        </p:nvSpPr>
        <p:spPr>
          <a:xfrm>
            <a:off x="7223759"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Shrink-H, 3 seeds per width: the predicted floor rises 12× while measured state activity falls 0.496→0.250, and accuracy improves as capacity shrinks. Theory with a tested scope limit, not a validated prediction.</a:t>
            </a:r>
          </a:p>
        </p:txBody>
      </p:sp>
      <p:sp>
        <p:nvSpPr>
          <p:cNvPr id="48" name="energy-block-48"/>
          <p:cNvSpPr/>
          <p:nvPr/>
        </p:nvSpPr>
        <p:spPr>
          <a:xfrm>
            <a:off x="548640" y="5349240"/>
            <a:ext cx="11155680" cy="91440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energy-block-49"/>
          <p:cNvSpPr txBox="1"/>
          <p:nvPr/>
        </p:nvSpPr>
        <p:spPr>
          <a:xfrm>
            <a:off x="822960" y="5513832"/>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05</a:t>
            </a:r>
          </a:p>
        </p:txBody>
      </p:sp>
      <p:sp>
        <p:nvSpPr>
          <p:cNvPr id="50" name="energy-block-50"/>
          <p:cNvSpPr txBox="1"/>
          <p:nvPr/>
        </p:nvSpPr>
        <p:spPr>
          <a:xfrm>
            <a:off x="1508760" y="5477256"/>
            <a:ext cx="3886200" cy="68580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No quality-matched pJ win at any shape tested</a:t>
            </a:r>
          </a:p>
        </p:txBody>
      </p:sp>
      <p:sp>
        <p:nvSpPr>
          <p:cNvPr id="51" name="energy-block-51"/>
          <p:cNvSpPr txBox="1"/>
          <p:nvPr/>
        </p:nvSpPr>
        <p:spPr>
          <a:xfrm>
            <a:off x="5532120" y="5477256"/>
            <a:ext cx="6035040" cy="713232"/>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LM shape: readout = 75% of analog’s pJ/token, recurrence 8%; gating it costs ~+1.0 bpc and all of copy’s margin (3 seeds). Streaming shape (V/H=0.04): recurrence dominates, 3.3× recoverable — but −10…−19 pts, budget-robust. Converters ≤0.58%.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08 · PROPOSED DIRECTIONS</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09</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What I would work on next</a:t>
            </a:r>
          </a:p>
        </p:txBody>
      </p:sp>
      <p:sp>
        <p:nvSpPr>
          <p:cNvPr id="6" name="Rounded Rectangle 5"/>
          <p:cNvSpPr/>
          <p:nvPr/>
        </p:nvSpPr>
        <p:spPr>
          <a:xfrm>
            <a:off x="548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01</a:t>
            </a:r>
          </a:p>
        </p:txBody>
      </p:sp>
      <p:sp>
        <p:nvSpPr>
          <p:cNvPr id="8" name="TextBox 7"/>
          <p:cNvSpPr txBox="1"/>
          <p:nvPr/>
        </p:nvSpPr>
        <p:spPr>
          <a:xfrm>
            <a:off x="1508760"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Analog state — done in simulation, open in silicon</a:t>
            </a:r>
          </a:p>
        </p:txBody>
      </p:sp>
      <p:sp>
        <p:nvSpPr>
          <p:cNvPr id="9" name="TextBox 8"/>
          <p:cNvSpPr txBox="1"/>
          <p:nvPr/>
        </p:nvSpPr>
        <p:spPr>
          <a:xfrm>
            <a:off x="1508760"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Done in simulation at both shapes: LM — the readout’s 75% share resisted every gating mechanism; streaming — 3.3× is recoverable but costs 10–19 pts, budget-robust. What’s unfinished is physical: every pJ is a 45nm proxy. So 02 first, not more simulation.</a:t>
            </a:r>
          </a:p>
        </p:txBody>
      </p:sp>
      <p:sp>
        <p:nvSpPr>
          <p:cNvPr id="10" name="Rounded Rectangle 9"/>
          <p:cNvSpPr/>
          <p:nvPr/>
        </p:nvSpPr>
        <p:spPr>
          <a:xfrm>
            <a:off x="6263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02</a:t>
            </a:r>
          </a:p>
        </p:txBody>
      </p:sp>
      <p:sp>
        <p:nvSpPr>
          <p:cNvPr id="12" name="TextBox 11"/>
          <p:cNvSpPr txBox="1"/>
          <p:nvPr/>
        </p:nvSpPr>
        <p:spPr>
          <a:xfrm>
            <a:off x="7223759"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Predictive coding on neuromorphic silicon</a:t>
            </a:r>
          </a:p>
        </p:txBody>
      </p:sp>
      <p:sp>
        <p:nvSpPr>
          <p:cNvPr id="13" name="TextBox 12"/>
          <p:cNvSpPr txBox="1"/>
          <p:nvPr/>
        </p:nvSpPr>
        <p:spPr>
          <a:xfrm>
            <a:off x="7223759"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Implement an error-propagating hierarchy with local (EqProp) learning; measure real energy on Loihi 2 / SpiNNaker2 — turning the 45nm proxy into a measurement.</a:t>
            </a:r>
          </a:p>
        </p:txBody>
      </p:sp>
      <p:sp>
        <p:nvSpPr>
          <p:cNvPr id="14" name="Rounded Rectangle 13"/>
          <p:cNvSpPr/>
          <p:nvPr/>
        </p:nvSpPr>
        <p:spPr>
          <a:xfrm>
            <a:off x="548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03</a:t>
            </a:r>
          </a:p>
        </p:txBody>
      </p:sp>
      <p:sp>
        <p:nvSpPr>
          <p:cNvPr id="16" name="TextBox 15"/>
          <p:cNvSpPr txBox="1"/>
          <p:nvPr/>
        </p:nvSpPr>
        <p:spPr>
          <a:xfrm>
            <a:off x="1508760"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Quantify the floor–vs–wall trade-off</a:t>
            </a:r>
          </a:p>
        </p:txBody>
      </p:sp>
      <p:sp>
        <p:nvSpPr>
          <p:cNvPr id="17" name="TextBox 16"/>
          <p:cNvSpPr txBox="1"/>
          <p:nvPr/>
        </p:nvSpPr>
        <p:spPr>
          <a:xfrm>
            <a:off x="1508760"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Formalize the recurrence(firing floor) ↔ attention(memory wall) dichotomy as a conservation law; find the Pareto frontier and where analog-state models sit on it.</a:t>
            </a:r>
          </a:p>
        </p:txBody>
      </p:sp>
      <p:sp>
        <p:nvSpPr>
          <p:cNvPr id="18" name="Rounded Rectangle 17"/>
          <p:cNvSpPr/>
          <p:nvPr/>
        </p:nvSpPr>
        <p:spPr>
          <a:xfrm>
            <a:off x="6263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04</a:t>
            </a:r>
          </a:p>
        </p:txBody>
      </p:sp>
      <p:sp>
        <p:nvSpPr>
          <p:cNvPr id="20" name="TextBox 19"/>
          <p:cNvSpPr txBox="1"/>
          <p:nvPr/>
        </p:nvSpPr>
        <p:spPr>
          <a:xfrm>
            <a:off x="7223759"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Closed-loop world-model at the edge</a:t>
            </a:r>
          </a:p>
        </p:txBody>
      </p:sp>
      <p:sp>
        <p:nvSpPr>
          <p:cNvPr id="21" name="TextBox 20"/>
          <p:cNvSpPr txBox="1"/>
          <p:nvPr/>
        </p:nvSpPr>
        <p:spPr>
          <a:xfrm>
            <a:off x="7223759"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A predictive world-model + planning loop for a low-power embodied agent — where neuromorphic's real-time, event-driven physics is decisive.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972800" cy="274320"/>
          </a:xfrm>
          <a:prstGeom prst="rect">
            <a:avLst/>
          </a:prstGeom>
          <a:noFill/>
        </p:spPr>
        <p:txBody>
          <a:bodyPr wrap="square" anchor="t" lIns="0" rIns="0" tIns="0" bIns="0">
            <a:spAutoFit/>
          </a:bodyPr>
          <a:lstStyle/>
          <a:p>
            <a:pPr algn="l">
              <a:lnSpc>
                <a:spcPct val="105000"/>
              </a:lnSpc>
            </a:pPr>
            <a:r>
              <a:rPr sz="1150" b="1" spc="140">
                <a:solidFill>
                  <a:srgbClr val="9B8CFF"/>
                </a:solidFill>
                <a:latin typeface="Consolas"/>
              </a:rPr>
              <a:t>THESIS</a:t>
            </a:r>
          </a:p>
        </p:txBody>
      </p:sp>
      <p:sp>
        <p:nvSpPr>
          <p:cNvPr id="4" name="TextBox 3"/>
          <p:cNvSpPr txBox="1"/>
          <p:nvPr/>
        </p:nvSpPr>
        <p:spPr>
          <a:xfrm>
            <a:off x="786384" y="1828800"/>
            <a:ext cx="10424160" cy="2377440"/>
          </a:xfrm>
          <a:prstGeom prst="rect">
            <a:avLst/>
          </a:prstGeom>
          <a:noFill/>
        </p:spPr>
        <p:txBody>
          <a:bodyPr wrap="square" anchor="t" lIns="0" rIns="0" tIns="0" bIns="0">
            <a:spAutoFit/>
          </a:bodyPr>
          <a:lstStyle/>
          <a:p>
            <a:pPr algn="l">
              <a:lnSpc>
                <a:spcPct val="110000"/>
              </a:lnSpc>
            </a:pPr>
            <a:r>
              <a:rPr sz="3000" b="1">
                <a:solidFill>
                  <a:srgbClr val="E7ECF2"/>
                </a:solidFill>
                <a:latin typeface="Arial"/>
              </a:rPr>
              <a:t>Intelligence is a loop, not a lookup.
</a:t>
            </a:r>
            <a:r>
              <a:rPr sz="2000" b="1">
                <a:solidFill>
                  <a:srgbClr val="93A0AE"/>
                </a:solidFill>
                <a:latin typeface="Arial"/>
              </a:rPr>
              <a:t>If neuromorphic can't ride attention, it shouldn't — its physics aligns with the </a:t>
            </a:r>
            <a:r>
              <a:rPr sz="2000" b="1">
                <a:solidFill>
                  <a:srgbClr val="9B8CFF"/>
                </a:solidFill>
                <a:latin typeface="Arial"/>
              </a:rPr>
              <a:t>predictive, sparse, local, embodied</a:t>
            </a:r>
            <a:r>
              <a:rPr sz="2000" b="1">
                <a:solidFill>
                  <a:srgbClr val="93A0AE"/>
                </a:solidFill>
                <a:latin typeface="Arial"/>
              </a:rPr>
              <a:t> paradigm the brain already proves works at 20 W.</a:t>
            </a:r>
          </a:p>
        </p:txBody>
      </p:sp>
      <p:sp>
        <p:nvSpPr>
          <p:cNvPr id="5" name="TextBox 4"/>
          <p:cNvSpPr txBox="1"/>
          <p:nvPr/>
        </p:nvSpPr>
        <p:spPr>
          <a:xfrm>
            <a:off x="822960" y="4937760"/>
            <a:ext cx="10515600" cy="1097280"/>
          </a:xfrm>
          <a:prstGeom prst="rect">
            <a:avLst/>
          </a:prstGeom>
          <a:noFill/>
        </p:spPr>
        <p:txBody>
          <a:bodyPr wrap="square" anchor="t" lIns="0" rIns="0" tIns="0" bIns="0">
            <a:spAutoFit/>
          </a:bodyPr>
          <a:lstStyle/>
          <a:p>
            <a:pPr algn="l">
              <a:lnSpc>
                <a:spcPct val="130000"/>
              </a:lnSpc>
            </a:pPr>
            <a:r>
              <a:rPr sz="950" b="1">
                <a:solidFill>
                  <a:srgbClr val="9B8CFF"/>
                </a:solidFill>
                <a:latin typeface="Consolas"/>
              </a:rPr>
              <a:t>SOURCES  </a:t>
            </a:r>
            <a:r>
              <a:rPr sz="950" b="0">
                <a:solidFill>
                  <a:srgbClr val="667280"/>
                </a:solidFill>
                <a:latin typeface="Consolas"/>
              </a:rPr>
              <a:t>Predictive coding: Millidge+22, Salvatori/Song ICLR’24 (2506.06332) · EqProp: Scellier, EqSpike, 2606.03584 · SSM: Mamba, SpikingMamba 2510.04595, SpikySpace · JEPA: V-JEPA 2, LeJEPA · Hopfield: Ramsauer, 2411.08590 · Active inference: Friston, PMC12217590 · Sparsity Ceiling (this work, arXiv cs.NE)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